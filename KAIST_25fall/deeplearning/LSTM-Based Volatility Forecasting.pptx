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71" r:id="rId4"/>
    <p:sldId id="272" r:id="rId5"/>
    <p:sldId id="258" r:id="rId6"/>
    <p:sldId id="278" r:id="rId7"/>
    <p:sldId id="273" r:id="rId8"/>
    <p:sldId id="268" r:id="rId9"/>
    <p:sldId id="270" r:id="rId10"/>
    <p:sldId id="274" r:id="rId11"/>
    <p:sldId id="275" r:id="rId12"/>
    <p:sldId id="263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9E337-EB48-49EB-8E3B-782F40101128}" v="32" dt="2025-11-25T10:22:53.954"/>
  </p1510:revLst>
</p1510:revInfo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43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경 남" userId="0fa35579690e32bb" providerId="LiveId" clId="{14D599EE-4778-4AB6-A133-C0099F96A860}"/>
    <pc:docChg chg="undo custSel addSld delSld modSld sldOrd">
      <pc:chgData name="수경 남" userId="0fa35579690e32bb" providerId="LiveId" clId="{14D599EE-4778-4AB6-A133-C0099F96A860}" dt="2025-11-25T10:22:58.584" v="1412" actId="255"/>
      <pc:docMkLst>
        <pc:docMk/>
      </pc:docMkLst>
      <pc:sldChg chg="modSp add del mod">
        <pc:chgData name="수경 남" userId="0fa35579690e32bb" providerId="LiveId" clId="{14D599EE-4778-4AB6-A133-C0099F96A860}" dt="2025-11-25T09:43:07.751" v="326" actId="1076"/>
        <pc:sldMkLst>
          <pc:docMk/>
          <pc:sldMk cId="3864268008" sldId="258"/>
        </pc:sldMkLst>
        <pc:spChg chg="mod">
          <ac:chgData name="수경 남" userId="0fa35579690e32bb" providerId="LiveId" clId="{14D599EE-4778-4AB6-A133-C0099F96A860}" dt="2025-11-25T09:42:52.677" v="324" actId="1035"/>
          <ac:spMkLst>
            <pc:docMk/>
            <pc:sldMk cId="3864268008" sldId="258"/>
            <ac:spMk id="5" creationId="{F781FF2B-016F-D4A1-DD92-CDF14A05EB99}"/>
          </ac:spMkLst>
        </pc:spChg>
        <pc:spChg chg="mod">
          <ac:chgData name="수경 남" userId="0fa35579690e32bb" providerId="LiveId" clId="{14D599EE-4778-4AB6-A133-C0099F96A860}" dt="2025-11-25T09:43:01.640" v="325" actId="1076"/>
          <ac:spMkLst>
            <pc:docMk/>
            <pc:sldMk cId="3864268008" sldId="258"/>
            <ac:spMk id="12" creationId="{D8FECC7C-891B-79FE-8ABC-93AA6C91EB91}"/>
          </ac:spMkLst>
        </pc:spChg>
        <pc:spChg chg="mod">
          <ac:chgData name="수경 남" userId="0fa35579690e32bb" providerId="LiveId" clId="{14D599EE-4778-4AB6-A133-C0099F96A860}" dt="2025-11-25T09:43:07.751" v="326" actId="1076"/>
          <ac:spMkLst>
            <pc:docMk/>
            <pc:sldMk cId="3864268008" sldId="258"/>
            <ac:spMk id="13" creationId="{FA2B9E28-5B70-B280-13B1-9A96AF23FEC1}"/>
          </ac:spMkLst>
        </pc:spChg>
      </pc:sldChg>
      <pc:sldChg chg="modSp mod">
        <pc:chgData name="수경 남" userId="0fa35579690e32bb" providerId="LiveId" clId="{14D599EE-4778-4AB6-A133-C0099F96A860}" dt="2025-11-25T10:21:55.399" v="1401" actId="255"/>
        <pc:sldMkLst>
          <pc:docMk/>
          <pc:sldMk cId="3467524937" sldId="270"/>
        </pc:sldMkLst>
        <pc:graphicFrameChg chg="mod modGraphic">
          <ac:chgData name="수경 남" userId="0fa35579690e32bb" providerId="LiveId" clId="{14D599EE-4778-4AB6-A133-C0099F96A860}" dt="2025-11-25T10:21:55.399" v="1401" actId="255"/>
          <ac:graphicFrameMkLst>
            <pc:docMk/>
            <pc:sldMk cId="3467524937" sldId="270"/>
            <ac:graphicFrameMk id="33" creationId="{7AE47CF5-8796-AE81-C009-39C5CD9A5408}"/>
          </ac:graphicFrameMkLst>
        </pc:graphicFrameChg>
      </pc:sldChg>
      <pc:sldChg chg="add del">
        <pc:chgData name="수경 남" userId="0fa35579690e32bb" providerId="LiveId" clId="{14D599EE-4778-4AB6-A133-C0099F96A860}" dt="2025-11-25T09:40:33.937" v="302" actId="47"/>
        <pc:sldMkLst>
          <pc:docMk/>
          <pc:sldMk cId="2937007128" sldId="271"/>
        </pc:sldMkLst>
      </pc:sldChg>
      <pc:sldChg chg="add del">
        <pc:chgData name="수경 남" userId="0fa35579690e32bb" providerId="LiveId" clId="{14D599EE-4778-4AB6-A133-C0099F96A860}" dt="2025-11-25T09:40:32.563" v="301" actId="47"/>
        <pc:sldMkLst>
          <pc:docMk/>
          <pc:sldMk cId="866663930" sldId="272"/>
        </pc:sldMkLst>
      </pc:sldChg>
      <pc:sldChg chg="modSp add del mod">
        <pc:chgData name="수경 남" userId="0fa35579690e32bb" providerId="LiveId" clId="{14D599EE-4778-4AB6-A133-C0099F96A860}" dt="2025-11-25T10:20:50.970" v="1395" actId="20577"/>
        <pc:sldMkLst>
          <pc:docMk/>
          <pc:sldMk cId="2847107153" sldId="273"/>
        </pc:sldMkLst>
        <pc:spChg chg="mod">
          <ac:chgData name="수경 남" userId="0fa35579690e32bb" providerId="LiveId" clId="{14D599EE-4778-4AB6-A133-C0099F96A860}" dt="2025-11-25T09:43:43.184" v="328" actId="1076"/>
          <ac:spMkLst>
            <pc:docMk/>
            <pc:sldMk cId="2847107153" sldId="273"/>
            <ac:spMk id="2" creationId="{A928B9A3-9FE4-DFF0-A536-2BB98A953228}"/>
          </ac:spMkLst>
        </pc:spChg>
        <pc:spChg chg="mod">
          <ac:chgData name="수경 남" userId="0fa35579690e32bb" providerId="LiveId" clId="{14D599EE-4778-4AB6-A133-C0099F96A860}" dt="2025-11-25T09:44:24.026" v="394" actId="20577"/>
          <ac:spMkLst>
            <pc:docMk/>
            <pc:sldMk cId="2847107153" sldId="273"/>
            <ac:spMk id="3" creationId="{7E4A26D3-4013-431C-69EA-1A0193D5698D}"/>
          </ac:spMkLst>
        </pc:spChg>
        <pc:spChg chg="mod">
          <ac:chgData name="수경 남" userId="0fa35579690e32bb" providerId="LiveId" clId="{14D599EE-4778-4AB6-A133-C0099F96A860}" dt="2025-11-25T09:54:56.170" v="407" actId="20577"/>
          <ac:spMkLst>
            <pc:docMk/>
            <pc:sldMk cId="2847107153" sldId="273"/>
            <ac:spMk id="7" creationId="{058DCCA3-DE78-9869-00C3-7E489C405B32}"/>
          </ac:spMkLst>
        </pc:spChg>
        <pc:spChg chg="mod">
          <ac:chgData name="수경 남" userId="0fa35579690e32bb" providerId="LiveId" clId="{14D599EE-4778-4AB6-A133-C0099F96A860}" dt="2025-11-25T10:20:50.970" v="1395" actId="20577"/>
          <ac:spMkLst>
            <pc:docMk/>
            <pc:sldMk cId="2847107153" sldId="273"/>
            <ac:spMk id="18" creationId="{E9FCB21D-BDCB-A725-8A52-4975AB0D408C}"/>
          </ac:spMkLst>
        </pc:spChg>
      </pc:sldChg>
      <pc:sldChg chg="modSp mod">
        <pc:chgData name="수경 남" userId="0fa35579690e32bb" providerId="LiveId" clId="{14D599EE-4778-4AB6-A133-C0099F96A860}" dt="2025-11-25T10:22:34.397" v="1406" actId="255"/>
        <pc:sldMkLst>
          <pc:docMk/>
          <pc:sldMk cId="2845413660" sldId="274"/>
        </pc:sldMkLst>
        <pc:graphicFrameChg chg="mod modGraphic">
          <ac:chgData name="수경 남" userId="0fa35579690e32bb" providerId="LiveId" clId="{14D599EE-4778-4AB6-A133-C0099F96A860}" dt="2025-11-25T10:22:34.397" v="1406" actId="255"/>
          <ac:graphicFrameMkLst>
            <pc:docMk/>
            <pc:sldMk cId="2845413660" sldId="274"/>
            <ac:graphicFrameMk id="9" creationId="{945E0DA7-9B3A-1D7E-2217-24DB2FC3513C}"/>
          </ac:graphicFrameMkLst>
        </pc:graphicFrameChg>
      </pc:sldChg>
      <pc:sldChg chg="modSp mod">
        <pc:chgData name="수경 남" userId="0fa35579690e32bb" providerId="LiveId" clId="{14D599EE-4778-4AB6-A133-C0099F96A860}" dt="2025-11-25T10:22:58.584" v="1412" actId="255"/>
        <pc:sldMkLst>
          <pc:docMk/>
          <pc:sldMk cId="2255625352" sldId="275"/>
        </pc:sldMkLst>
        <pc:graphicFrameChg chg="mod modGraphic">
          <ac:chgData name="수경 남" userId="0fa35579690e32bb" providerId="LiveId" clId="{14D599EE-4778-4AB6-A133-C0099F96A860}" dt="2025-11-25T10:22:58.584" v="1412" actId="255"/>
          <ac:graphicFrameMkLst>
            <pc:docMk/>
            <pc:sldMk cId="2255625352" sldId="275"/>
            <ac:graphicFrameMk id="2" creationId="{0B701440-E24A-6738-8D61-761B527085B9}"/>
          </ac:graphicFrameMkLst>
        </pc:graphicFrameChg>
      </pc:sldChg>
      <pc:sldChg chg="addSp delSp modSp add del mod ord">
        <pc:chgData name="수경 남" userId="0fa35579690e32bb" providerId="LiveId" clId="{14D599EE-4778-4AB6-A133-C0099F96A860}" dt="2025-11-25T10:20:31.847" v="1391" actId="20577"/>
        <pc:sldMkLst>
          <pc:docMk/>
          <pc:sldMk cId="114016279" sldId="278"/>
        </pc:sldMkLst>
        <pc:spChg chg="del">
          <ac:chgData name="수경 남" userId="0fa35579690e32bb" providerId="LiveId" clId="{14D599EE-4778-4AB6-A133-C0099F96A860}" dt="2025-11-25T09:59:55.155" v="535" actId="478"/>
          <ac:spMkLst>
            <pc:docMk/>
            <pc:sldMk cId="114016279" sldId="278"/>
            <ac:spMk id="2" creationId="{57F4AE68-35BB-BE6F-9137-DD977B884A1C}"/>
          </ac:spMkLst>
        </pc:spChg>
        <pc:spChg chg="del">
          <ac:chgData name="수경 남" userId="0fa35579690e32bb" providerId="LiveId" clId="{14D599EE-4778-4AB6-A133-C0099F96A860}" dt="2025-11-25T09:59:55.155" v="535" actId="478"/>
          <ac:spMkLst>
            <pc:docMk/>
            <pc:sldMk cId="114016279" sldId="278"/>
            <ac:spMk id="3" creationId="{05F3DB9D-BA3D-EDEA-3431-229B89B2EC93}"/>
          </ac:spMkLst>
        </pc:spChg>
        <pc:spChg chg="add del mod">
          <ac:chgData name="수경 남" userId="0fa35579690e32bb" providerId="LiveId" clId="{14D599EE-4778-4AB6-A133-C0099F96A860}" dt="2025-11-25T10:02:14.988" v="670" actId="478"/>
          <ac:spMkLst>
            <pc:docMk/>
            <pc:sldMk cId="114016279" sldId="278"/>
            <ac:spMk id="5" creationId="{55223632-40B8-624E-AFB6-E7CD15726859}"/>
          </ac:spMkLst>
        </pc:spChg>
        <pc:spChg chg="mod">
          <ac:chgData name="수경 남" userId="0fa35579690e32bb" providerId="LiveId" clId="{14D599EE-4778-4AB6-A133-C0099F96A860}" dt="2025-11-25T09:58:21.210" v="433" actId="20577"/>
          <ac:spMkLst>
            <pc:docMk/>
            <pc:sldMk cId="114016279" sldId="278"/>
            <ac:spMk id="7" creationId="{50300338-FAAB-5A54-2A4D-D9A269DD128F}"/>
          </ac:spMkLst>
        </pc:spChg>
        <pc:spChg chg="add mod">
          <ac:chgData name="수경 남" userId="0fa35579690e32bb" providerId="LiveId" clId="{14D599EE-4778-4AB6-A133-C0099F96A860}" dt="2025-11-25T10:20:31.847" v="1391" actId="20577"/>
          <ac:spMkLst>
            <pc:docMk/>
            <pc:sldMk cId="114016279" sldId="278"/>
            <ac:spMk id="10" creationId="{CC6CE7AB-DED3-A14F-2F6D-4A3E0360397D}"/>
          </ac:spMkLst>
        </pc:spChg>
        <pc:spChg chg="add del mod">
          <ac:chgData name="수경 남" userId="0fa35579690e32bb" providerId="LiveId" clId="{14D599EE-4778-4AB6-A133-C0099F96A860}" dt="2025-11-25T10:18:48.564" v="1302" actId="478"/>
          <ac:spMkLst>
            <pc:docMk/>
            <pc:sldMk cId="114016279" sldId="278"/>
            <ac:spMk id="12" creationId="{8E5485B0-5401-F515-3300-19B2751B4D87}"/>
          </ac:spMkLst>
        </pc:spChg>
        <pc:spChg chg="mod">
          <ac:chgData name="수경 남" userId="0fa35579690e32bb" providerId="LiveId" clId="{14D599EE-4778-4AB6-A133-C0099F96A860}" dt="2025-11-25T10:05:24.594" v="716" actId="14100"/>
          <ac:spMkLst>
            <pc:docMk/>
            <pc:sldMk cId="114016279" sldId="278"/>
            <ac:spMk id="18" creationId="{C67DC393-7C00-A18C-0865-443E30E5BA02}"/>
          </ac:spMkLst>
        </pc:spChg>
        <pc:graphicFrameChg chg="add mod modGraphic">
          <ac:chgData name="수경 남" userId="0fa35579690e32bb" providerId="LiveId" clId="{14D599EE-4778-4AB6-A133-C0099F96A860}" dt="2025-11-25T10:12:46.409" v="850" actId="255"/>
          <ac:graphicFrameMkLst>
            <pc:docMk/>
            <pc:sldMk cId="114016279" sldId="278"/>
            <ac:graphicFrameMk id="6" creationId="{2FC5FF83-05CF-64F9-EFD4-99B1C7DF3D9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EC55B41-6BEE-C9A1-E703-03608178A2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D2B2C5-B953-756D-44A5-598D193957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C754F-4C81-4134-A62E-A7601C8E21A0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8419D3-D5E2-99DC-0C34-8CE24D33DD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5F1D4C-E27A-9DC8-5A12-39D94208A7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E29AD-76D3-4C7E-8E53-85296800F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115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2:47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1579 24575,'0'-17'0,"-1"8"0,1 0 0,0 1 0,0-1 0,1 0 0,0 0 0,1 0 0,0 0 0,0 1 0,1-1 0,6-12 0,-6 15 0,-1 0 0,0-1 0,0 1 0,0-1 0,-1 1 0,2-13 0,2-13 0,5-2 0,24-51 0,-14 38 0,-14 30 0,-1 1 0,-1-1 0,0 0 0,-1 0 0,-1 0 0,0-34 0,-3 23 0,-2-1 0,0 1 0,-11-40 0,7 48 0,0 1 0,-16-31 0,9 21 0,5 11 0,-1 0 0,-22-31 0,30 47 0,1 0 0,0-1 0,0 1 0,0 0 0,0-1 0,1 1 0,-1-1 0,0 1 0,1-1 0,0 1 0,0-4 0,1-31 0,0 18 0,-1-44 0,1-43 0,0 104 0,-1 0 0,1 0 0,-1 0 0,1 0 0,0 0 0,-1 1 0,1-1 0,0 0 0,0 0 0,0 1 0,1-1 0,-1 1 0,0-1 0,0 1 0,1 0 0,-1-1 0,1 1 0,0 0 0,-1 0 0,1 0 0,0 0 0,-1 0 0,4-1 0,4-1 0,1 0 0,-1 0 0,14-1 0,-17 3 0,-18 4 0,0 2 0,0-1 0,1 1 0,-1 1 0,1 0 0,-12 9 0,23-15 0,0 0 0,0 0 0,0 0 0,0 0 0,0 0 0,0-1 0,0 1 0,0 0 0,0 0 0,0 0 0,0 0 0,0 0 0,0 0 0,0 0 0,0 0 0,0 0 0,0 0 0,0 0 0,0 0 0,0 0 0,0 0 0,0 0 0,0 0 0,0 0 0,0 0 0,0 0 0,0 0 0,0 0 0,0 0 0,0 0 0,0 0 0,0 0 0,0 0 0,0 0 0,0 0 0,0 0 0,0-1 0,0 1 0,0 0 0,0 0 0,0 0 0,-1 0 0,1 0 0,0 0 0,0 0 0,0 0 0,0 0 0,0 0 0,0 0 0,0 0 0,0 1 0,0-1 0,0 0 0,0 0 0,0 0 0,0 0 0,0 0 0,0 0 0,0 0 0,0 0 0,0 0 0,0 0 0,0 0 0,0 0 0,2-6 0,4-7 0,-2 4 0,1 1 0,-2-1 0,1 0 0,-1 0 0,-1 0 0,3-13 0,0-57 0,-4 53 0,1-1 0,1 0 0,2 0 0,0 1 0,2-1 0,11-26 0,-16 46 0,0 5 0,-1-1 0,0 0 0,0 0 0,0 0 0,-1 0 0,1 0 0,0-6 0,-1 9 0,0 0 0,0 0 0,0 0 0,0 0 0,0 0 0,0 0 0,0 0 0,0-1 0,0 1 0,0 0 0,0 0 0,0 0 0,0 0 0,0 0 0,0 0 0,0 0 0,0 0 0,0 0 0,-1 0 0,1 0 0,0 0 0,0 0 0,0-1 0,0 1 0,0 0 0,0 0 0,0 0 0,0 0 0,0 0 0,0 0 0,0 0 0,0 0 0,0 0 0,0 0 0,0 0 0,-1 0 0,1 0 0,0 0 0,0 0 0,0 0 0,0 0 0,0 0 0,0 0 0,0 0 0,0 0 0,0 0 0,0 0 0,0 0 0,-1 0 0,1 0 0,0 0 0,0 0 0,0 0 0,0 0 0,0 0 0,0 0 0,-6 5 0,-2 8 0,-5 20-1365,9-16-5461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10.4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11.8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16.6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18.8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20.1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2:47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1579 24575,'0'-17'0,"-1"8"0,1 0 0,0 1 0,0-1 0,1 0 0,0 0 0,1 0 0,0 0 0,0 1 0,1-1 0,6-12 0,-6 15 0,-1 0 0,0-1 0,0 1 0,0-1 0,-1 1 0,2-13 0,2-13 0,5-2 0,24-51 0,-14 38 0,-14 30 0,-1 1 0,-1-1 0,0 0 0,-1 0 0,-1 0 0,0-34 0,-3 23 0,-2-1 0,0 1 0,-11-40 0,7 48 0,0 1 0,-16-31 0,9 21 0,5 11 0,-1 0 0,-22-31 0,30 47 0,1 0 0,0-1 0,0 1 0,0 0 0,0-1 0,1 1 0,-1-1 0,0 1 0,1-1 0,0 1 0,0-4 0,1-31 0,0 18 0,-1-44 0,1-43 0,0 104 0,-1 0 0,1 0 0,-1 0 0,1 0 0,0 0 0,-1 1 0,1-1 0,0 0 0,0 0 0,0 1 0,1-1 0,-1 1 0,0-1 0,0 1 0,1 0 0,-1-1 0,1 1 0,0 0 0,-1 0 0,1 0 0,0 0 0,-1 0 0,4-1 0,4-1 0,1 0 0,-1 0 0,14-1 0,-17 3 0,-18 4 0,0 2 0,0-1 0,1 1 0,-1 1 0,1 0 0,-12 9 0,23-15 0,0 0 0,0 0 0,0 0 0,0 0 0,0 0 0,0-1 0,0 1 0,0 0 0,0 0 0,0 0 0,0 0 0,0 0 0,0 0 0,0 0 0,0 0 0,0 0 0,0 0 0,0 0 0,0 0 0,0 0 0,0 0 0,0 0 0,0 0 0,0 0 0,0 0 0,0 0 0,0 0 0,0 0 0,0 0 0,0 0 0,0 0 0,0 0 0,0 0 0,0 0 0,0 0 0,0 0 0,0-1 0,0 1 0,0 0 0,0 0 0,0 0 0,-1 0 0,1 0 0,0 0 0,0 0 0,0 0 0,0 0 0,0 0 0,0 0 0,0 0 0,0 1 0,0-1 0,0 0 0,0 0 0,0 0 0,0 0 0,0 0 0,0 0 0,0 0 0,0 0 0,0 0 0,0 0 0,0 0 0,0 0 0,2-6 0,4-7 0,-2 4 0,1 1 0,-2-1 0,1 0 0,-1 0 0,-1 0 0,3-13 0,0-57 0,-4 53 0,1-1 0,1 0 0,2 0 0,0 1 0,2-1 0,11-26 0,-16 46 0,0 5 0,-1-1 0,0 0 0,0 0 0,0 0 0,-1 0 0,1 0 0,0-6 0,-1 9 0,0 0 0,0 0 0,0 0 0,0 0 0,0 0 0,0 0 0,0 0 0,0-1 0,0 1 0,0 0 0,0 0 0,0 0 0,0 0 0,0 0 0,0 0 0,0 0 0,0 0 0,0 0 0,-1 0 0,1 0 0,0 0 0,0 0 0,0-1 0,0 1 0,0 0 0,0 0 0,0 0 0,0 0 0,0 0 0,0 0 0,0 0 0,0 0 0,0 0 0,0 0 0,0 0 0,-1 0 0,1 0 0,0 0 0,0 0 0,0 0 0,0 0 0,0 0 0,0 0 0,0 0 0,0 0 0,0 0 0,0 0 0,0 0 0,-1 0 0,1 0 0,0 0 0,0 0 0,0 0 0,0 0 0,0 0 0,0 0 0,-6 5 0,-2 8 0,-5 20-1365,9-16-5461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10.4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11.8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16.6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18.8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23:33:20.1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FDDAA-DB9E-4F44-A2F7-A6D3D9641067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BA983-FBE4-46F9-A300-10B806A902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6755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BA983-FBE4-46F9-A300-10B806A9022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637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BA983-FBE4-46F9-A300-10B806A9022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497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BA983-FBE4-46F9-A300-10B806A9022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049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C9EF5-5E7D-47AD-BF1D-48D6AB8F79E8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32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8A663-3E6B-43FD-B3FD-0F260BFDA032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27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03E6-F548-442A-B708-64B982B5D565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5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C9A9E-704F-442B-A52F-1C526DD2EEB5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60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7A0BB-7EB1-4365-96C3-59581322AC30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8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F478-AC85-41FB-AE74-4877B08CC4DF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05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1562F-EEAE-4598-AEDE-7A0A037ECF8D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506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D6AE-FD18-4E59-B2FA-5A7151710354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4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80E2-FCFE-43E7-8B9A-55E1FA3C91A0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58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541-F397-481A-A9A1-981F68A26224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58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712E-6FF3-4A0B-A17A-9535005C4AD9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84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9D41923-382C-4A3B-B396-34723FD2F462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2A107-3D25-459A-8DB7-F259FCBD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8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customXml" Target="../ink/ink6.xml"/><Relationship Id="rId7" Type="http://schemas.openxmlformats.org/officeDocument/2006/relationships/image" Target="../media/image12.png"/><Relationship Id="rId12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4.xml"/><Relationship Id="rId10" Type="http://schemas.openxmlformats.org/officeDocument/2006/relationships/customXml" Target="../ink/ink3.xml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customXml" Target="../ink/ink12.xml"/><Relationship Id="rId7" Type="http://schemas.openxmlformats.org/officeDocument/2006/relationships/image" Target="../media/image12.png"/><Relationship Id="rId12" Type="http://schemas.openxmlformats.org/officeDocument/2006/relationships/customXml" Target="../ink/ink11.xm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0.xml"/><Relationship Id="rId10" Type="http://schemas.openxmlformats.org/officeDocument/2006/relationships/customXml" Target="../ink/ink9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730A86-9949-2AED-9364-0CB11529A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383" y="802640"/>
            <a:ext cx="9144000" cy="262636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LSTM-Based Volatility Forecasting: </a:t>
            </a:r>
            <a:br>
              <a:rPr lang="en-US" altLang="ko-KR" sz="4000" b="1" dirty="0"/>
            </a:br>
            <a:r>
              <a:rPr lang="en-US" altLang="ko-KR" sz="4000" b="1" dirty="0"/>
              <a:t>Effects and Limitations of Feature Expansion</a:t>
            </a:r>
            <a:endParaRPr lang="ko-KR" altLang="en-US" sz="4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FCAF49-7515-1A61-2693-247367320E98}"/>
              </a:ext>
            </a:extLst>
          </p:cNvPr>
          <p:cNvSpPr/>
          <p:nvPr/>
        </p:nvSpPr>
        <p:spPr>
          <a:xfrm>
            <a:off x="674911" y="1749334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5EDC7C-FA8F-F80D-657D-1394209013D9}"/>
              </a:ext>
            </a:extLst>
          </p:cNvPr>
          <p:cNvSpPr/>
          <p:nvPr/>
        </p:nvSpPr>
        <p:spPr>
          <a:xfrm>
            <a:off x="674913" y="3716383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96DDBC7-DD98-D490-33F1-66F88D15A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00" y="5989319"/>
            <a:ext cx="1852766" cy="529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96074E-CF54-3A60-BAAD-C047378A913C}"/>
              </a:ext>
            </a:extLst>
          </p:cNvPr>
          <p:cNvSpPr txBox="1"/>
          <p:nvPr/>
        </p:nvSpPr>
        <p:spPr>
          <a:xfrm>
            <a:off x="9452990" y="4256317"/>
            <a:ext cx="4874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b="1" dirty="0"/>
              <a:t>Team Members</a:t>
            </a:r>
            <a:br>
              <a:rPr lang="ko-KR" altLang="en-US" dirty="0"/>
            </a:br>
            <a:r>
              <a:rPr lang="ko-KR" altLang="en-US" dirty="0" err="1"/>
              <a:t>남수경</a:t>
            </a:r>
            <a:r>
              <a:rPr lang="ko-KR" altLang="en-US" dirty="0"/>
              <a:t>      </a:t>
            </a:r>
            <a:r>
              <a:rPr lang="en-US" altLang="ko-KR" dirty="0"/>
              <a:t>20259135</a:t>
            </a:r>
            <a:br>
              <a:rPr lang="en-US" altLang="ko-KR" dirty="0"/>
            </a:br>
            <a:r>
              <a:rPr lang="ko-KR" altLang="en-US" dirty="0"/>
              <a:t>손민재      </a:t>
            </a:r>
            <a:r>
              <a:rPr lang="en-US" altLang="ko-KR" dirty="0"/>
              <a:t>20259431</a:t>
            </a:r>
            <a:br>
              <a:rPr lang="en-US" altLang="ko-KR" dirty="0"/>
            </a:br>
            <a:r>
              <a:rPr lang="ko-KR" altLang="en-US" dirty="0"/>
              <a:t>지윤승 </a:t>
            </a:r>
            <a:r>
              <a:rPr lang="en-US" altLang="ko-KR" dirty="0"/>
              <a:t>     20259431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F04961A-6573-7457-4E29-6AC9B735538A}"/>
              </a:ext>
            </a:extLst>
          </p:cNvPr>
          <p:cNvCxnSpPr>
            <a:cxnSpLocks/>
          </p:cNvCxnSpPr>
          <p:nvPr/>
        </p:nvCxnSpPr>
        <p:spPr>
          <a:xfrm>
            <a:off x="10409846" y="4563290"/>
            <a:ext cx="0" cy="8280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80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A26DF-CA22-007C-39F4-5AE9961A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22" y="290998"/>
            <a:ext cx="9836520" cy="882194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Introduction</a:t>
            </a:r>
            <a:endParaRPr lang="ko-KR" altLang="en-US" sz="28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370CB8-6516-D4E2-8C56-E15C8F27F6A4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D2BA110-8009-6537-F880-C26CF1E1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p1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59185-004E-6C0C-EA38-A579CA6C40B7}"/>
              </a:ext>
            </a:extLst>
          </p:cNvPr>
          <p:cNvSpPr txBox="1"/>
          <p:nvPr/>
        </p:nvSpPr>
        <p:spPr>
          <a:xfrm>
            <a:off x="786809" y="1456661"/>
            <a:ext cx="10122731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연구  목적</a:t>
            </a:r>
            <a:endParaRPr lang="en-US" altLang="ko-KR" sz="1500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S&amp;P 500 지수의 실현 변동성(</a:t>
            </a:r>
            <a:r>
              <a:rPr lang="ko-KR" altLang="ko-KR" sz="1200" dirty="0" err="1">
                <a:latin typeface="Arial" panose="020B0604020202020204" pitchFamily="34" charset="0"/>
              </a:rPr>
              <a:t>realized</a:t>
            </a:r>
            <a:r>
              <a:rPr lang="ko-KR" altLang="ko-KR" sz="1200" dirty="0">
                <a:latin typeface="Arial" panose="020B0604020202020204" pitchFamily="34" charset="0"/>
              </a:rPr>
              <a:t> </a:t>
            </a:r>
            <a:r>
              <a:rPr lang="ko-KR" altLang="ko-KR" sz="1200" dirty="0" err="1">
                <a:latin typeface="Arial" panose="020B0604020202020204" pitchFamily="34" charset="0"/>
              </a:rPr>
              <a:t>volatility</a:t>
            </a:r>
            <a:r>
              <a:rPr lang="ko-KR" altLang="ko-KR" sz="1200" dirty="0">
                <a:latin typeface="Arial" panose="020B0604020202020204" pitchFamily="34" charset="0"/>
              </a:rPr>
              <a:t>) 을 높은 정확도로 예측하는 모델 개발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가격 정보 기반 LSTM 모델에 GARCH </a:t>
            </a:r>
            <a:r>
              <a:rPr lang="ko-KR" altLang="ko-KR" sz="1200" dirty="0" err="1">
                <a:latin typeface="Arial" panose="020B0604020202020204" pitchFamily="34" charset="0"/>
              </a:rPr>
              <a:t>변동성·VIX</a:t>
            </a:r>
            <a:r>
              <a:rPr lang="ko-KR" altLang="ko-KR" sz="1200" dirty="0">
                <a:latin typeface="Arial" panose="020B0604020202020204" pitchFamily="34" charset="0"/>
              </a:rPr>
              <a:t> 내재 변동성을 결합해</a:t>
            </a:r>
            <a:r>
              <a:rPr lang="en-US" altLang="ko-KR" sz="1200" dirty="0">
                <a:latin typeface="Arial" panose="020B0604020202020204" pitchFamily="34" charset="0"/>
              </a:rPr>
              <a:t> </a:t>
            </a:r>
            <a:r>
              <a:rPr lang="ko-KR" altLang="ko-KR" sz="1200" dirty="0">
                <a:latin typeface="Arial" panose="020B0604020202020204" pitchFamily="34" charset="0"/>
              </a:rPr>
              <a:t>정보 추가가 예측력을 얼마나 개선하는지 검증</a:t>
            </a:r>
          </a:p>
          <a:p>
            <a:endParaRPr lang="en-US" altLang="ko-KR" b="1" dirty="0"/>
          </a:p>
          <a:p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6043B-EFAF-A0A1-4B52-605FDE9DA5B6}"/>
              </a:ext>
            </a:extLst>
          </p:cNvPr>
          <p:cNvSpPr txBox="1"/>
          <p:nvPr/>
        </p:nvSpPr>
        <p:spPr>
          <a:xfrm>
            <a:off x="786809" y="2931868"/>
            <a:ext cx="93460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예측 대상</a:t>
            </a:r>
            <a:r>
              <a:rPr lang="en-US" altLang="ko-KR" sz="1500" b="1" dirty="0"/>
              <a:t>: </a:t>
            </a:r>
            <a:r>
              <a:rPr lang="ko-KR" altLang="en-US" sz="1500" b="1" dirty="0"/>
              <a:t>실현 변동성</a:t>
            </a:r>
            <a:r>
              <a:rPr lang="en-US" altLang="ko-KR" sz="1500" b="1" dirty="0"/>
              <a:t>(Realized Volatility)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S&amp;P 500 </a:t>
            </a:r>
            <a:r>
              <a:rPr lang="ko-KR" altLang="en-US" sz="1200" dirty="0"/>
              <a:t>일별 로그수익률을 사용</a:t>
            </a:r>
            <a:endParaRPr lang="en-US" altLang="ko-KR" sz="12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22</a:t>
            </a:r>
            <a:r>
              <a:rPr lang="ko-KR" altLang="en-US" sz="1200" dirty="0"/>
              <a:t>일</a:t>
            </a:r>
            <a:r>
              <a:rPr lang="en-US" altLang="ko-KR" sz="1200" dirty="0"/>
              <a:t>(</a:t>
            </a:r>
            <a:r>
              <a:rPr lang="ko-KR" altLang="en-US" sz="1200" dirty="0"/>
              <a:t>약 </a:t>
            </a:r>
            <a:r>
              <a:rPr lang="en-US" altLang="ko-KR" sz="1200" dirty="0"/>
              <a:t>1</a:t>
            </a:r>
            <a:r>
              <a:rPr lang="ko-KR" altLang="en-US" sz="1200" dirty="0"/>
              <a:t>개월</a:t>
            </a:r>
            <a:r>
              <a:rPr lang="en-US" altLang="ko-KR" sz="1200" dirty="0"/>
              <a:t>)</a:t>
            </a:r>
            <a:r>
              <a:rPr lang="ko-KR" altLang="en-US" sz="1200" dirty="0"/>
              <a:t> 롤링 표준편차로 계산</a:t>
            </a:r>
            <a:endParaRPr lang="en-US" altLang="ko-KR" sz="12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시장 변동성의 실제 움직임을 반영하는 핵심 지표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F2E1B-FACE-7CF8-BF6B-F69C312F4E38}"/>
              </a:ext>
            </a:extLst>
          </p:cNvPr>
          <p:cNvSpPr txBox="1"/>
          <p:nvPr/>
        </p:nvSpPr>
        <p:spPr>
          <a:xfrm>
            <a:off x="786808" y="4644241"/>
            <a:ext cx="10122731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프로젝트 개요 </a:t>
            </a:r>
            <a:endParaRPr lang="en-US" altLang="ko-KR" sz="1500" b="1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LSTM </a:t>
            </a:r>
            <a:r>
              <a:rPr lang="ko-KR" altLang="en-US" sz="1200" dirty="0"/>
              <a:t>기반 변동성 예측 모델 </a:t>
            </a:r>
            <a:r>
              <a:rPr lang="en-US" altLang="ko-KR" sz="1200" dirty="0"/>
              <a:t>3</a:t>
            </a:r>
            <a:r>
              <a:rPr lang="ko-KR" altLang="en-US" sz="1200" dirty="0"/>
              <a:t>종 비교</a:t>
            </a:r>
            <a:endParaRPr lang="en-US" altLang="ko-KR" sz="1200" dirty="0"/>
          </a:p>
          <a:p>
            <a:pPr lvl="1">
              <a:spcAft>
                <a:spcPts val="400"/>
              </a:spcAft>
            </a:pPr>
            <a:r>
              <a:rPr lang="en-US" altLang="ko-KR" sz="1200" b="1" dirty="0"/>
              <a:t>LSTM</a:t>
            </a:r>
            <a:r>
              <a:rPr lang="en-US" altLang="ko-KR" sz="1200" dirty="0"/>
              <a:t>:</a:t>
            </a:r>
            <a:r>
              <a:rPr lang="ko-KR" altLang="en-US" sz="1200" dirty="0"/>
              <a:t> 가격 정보 </a:t>
            </a:r>
            <a:r>
              <a:rPr lang="en-US" altLang="ko-KR" sz="1200" dirty="0"/>
              <a:t>+ </a:t>
            </a:r>
            <a:r>
              <a:rPr lang="ko-KR" altLang="en-US" sz="1200" dirty="0"/>
              <a:t>전일 실현 변동성</a:t>
            </a:r>
          </a:p>
          <a:p>
            <a:pPr lvl="1">
              <a:spcAft>
                <a:spcPts val="400"/>
              </a:spcAft>
            </a:pPr>
            <a:r>
              <a:rPr lang="en-US" altLang="ko-KR" sz="1200" b="1" dirty="0"/>
              <a:t>LSTM-GARCH</a:t>
            </a:r>
            <a:r>
              <a:rPr lang="en-US" altLang="ko-KR" sz="1200" dirty="0"/>
              <a:t>:</a:t>
            </a:r>
            <a:r>
              <a:rPr lang="ko-KR" altLang="en-US" sz="1200" dirty="0"/>
              <a:t> 가격 정보 </a:t>
            </a:r>
            <a:r>
              <a:rPr lang="en-US" altLang="ko-KR" sz="1200" dirty="0"/>
              <a:t>+ </a:t>
            </a:r>
            <a:r>
              <a:rPr lang="ko-KR" altLang="en-US" sz="1200" dirty="0"/>
              <a:t>전일 실현 변동성 </a:t>
            </a:r>
            <a:r>
              <a:rPr lang="en-US" altLang="ko-KR" sz="1200" dirty="0"/>
              <a:t>+ GARCH(2,2) </a:t>
            </a:r>
            <a:r>
              <a:rPr lang="ko-KR" altLang="en-US" sz="1200" dirty="0"/>
              <a:t>단기 예측 변동성</a:t>
            </a:r>
          </a:p>
          <a:p>
            <a:pPr lvl="1">
              <a:spcAft>
                <a:spcPts val="400"/>
              </a:spcAft>
            </a:pPr>
            <a:r>
              <a:rPr lang="en-US" altLang="ko-KR" sz="1200" b="1" dirty="0"/>
              <a:t>Hybrid (LSTM + GARCH + VIX)</a:t>
            </a:r>
            <a:r>
              <a:rPr lang="en-US" altLang="ko-KR" sz="1200" dirty="0"/>
              <a:t>: </a:t>
            </a:r>
            <a:r>
              <a:rPr lang="ko-KR" altLang="en-US" sz="1200" dirty="0"/>
              <a:t>가격 정보 </a:t>
            </a:r>
            <a:r>
              <a:rPr lang="en-US" altLang="ko-KR" sz="1200" dirty="0"/>
              <a:t>+ </a:t>
            </a:r>
            <a:r>
              <a:rPr lang="ko-KR" altLang="en-US" sz="1200" dirty="0"/>
              <a:t>전일 실현 변동성 </a:t>
            </a:r>
            <a:r>
              <a:rPr lang="en-US" altLang="ko-KR" sz="1200" dirty="0"/>
              <a:t>+ GARCH(2,2) </a:t>
            </a:r>
            <a:r>
              <a:rPr lang="ko-KR" altLang="en-US" sz="1200" dirty="0"/>
              <a:t>단기 예측 변동성 </a:t>
            </a:r>
            <a:r>
              <a:rPr lang="en-US" altLang="ko-KR" sz="1200" dirty="0"/>
              <a:t>+</a:t>
            </a:r>
            <a:r>
              <a:rPr lang="ko-KR" altLang="en-US" sz="1200" dirty="0"/>
              <a:t> </a:t>
            </a:r>
            <a:r>
              <a:rPr lang="en-US" altLang="ko-KR" sz="1200" dirty="0"/>
              <a:t>VIX(30</a:t>
            </a:r>
            <a:r>
              <a:rPr lang="ko-KR" altLang="en-US" sz="1200" dirty="0"/>
              <a:t>일 내재 변동성</a:t>
            </a:r>
            <a:r>
              <a:rPr lang="en-US" altLang="ko-KR" sz="1200" dirty="0"/>
              <a:t>) </a:t>
            </a:r>
            <a:r>
              <a:rPr lang="ko-KR" altLang="en-US" sz="1200" dirty="0"/>
              <a:t>포함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48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CC144-CD84-C6E3-CCE0-C4078F9A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C7146-A41C-6B60-E293-F72CFADE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22" y="290998"/>
            <a:ext cx="9836520" cy="882194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Motivation</a:t>
            </a:r>
            <a:endParaRPr lang="ko-KR" altLang="en-US" sz="28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F107B6-6ABE-C1A5-5A67-06FBB18DB61B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35DA6426-B4A9-DA55-3D18-4FCF7884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p2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DC546-D85B-8719-BF4C-4CD14D365B6B}"/>
              </a:ext>
            </a:extLst>
          </p:cNvPr>
          <p:cNvSpPr txBox="1"/>
          <p:nvPr/>
        </p:nvSpPr>
        <p:spPr>
          <a:xfrm>
            <a:off x="786809" y="1456661"/>
            <a:ext cx="1012273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변동성 예측의 중요성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변동성은 금융시장의 위험 수준을 직접적으로 반영하는 핵심 지표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옵션 가격결정</a:t>
            </a:r>
            <a:r>
              <a:rPr lang="en-US" altLang="ko-KR" sz="1200" dirty="0"/>
              <a:t>, </a:t>
            </a:r>
            <a:r>
              <a:rPr lang="ko-KR" altLang="en-US" sz="1200" dirty="0"/>
              <a:t>리스크 관리</a:t>
            </a:r>
            <a:r>
              <a:rPr lang="en-US" altLang="ko-KR" sz="1200" dirty="0"/>
              <a:t>, </a:t>
            </a:r>
            <a:r>
              <a:rPr lang="ko-KR" altLang="en-US" sz="1200" dirty="0"/>
              <a:t>자산배분</a:t>
            </a:r>
            <a:r>
              <a:rPr lang="en-US" altLang="ko-KR" sz="1200" dirty="0"/>
              <a:t>, </a:t>
            </a:r>
            <a:r>
              <a:rPr lang="ko-KR" altLang="en-US" sz="1200" dirty="0"/>
              <a:t>스트레스 테스트 등 대부분의 금융 모델이 변동성에 민감하게 의존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특히 </a:t>
            </a:r>
            <a:r>
              <a:rPr lang="en-US" altLang="ko-KR" sz="1200" dirty="0"/>
              <a:t>S&amp;P 500 </a:t>
            </a:r>
            <a:r>
              <a:rPr lang="ko-KR" altLang="en-US" sz="1200" dirty="0"/>
              <a:t>변동성은 글로벌 시장 전반의 위험 신호로 활용됨</a:t>
            </a:r>
          </a:p>
          <a:p>
            <a:endParaRPr lang="en-US" altLang="ko-KR" b="1" dirty="0"/>
          </a:p>
          <a:p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49DF8-8A8F-DA6B-BC9D-426CA7E66F92}"/>
              </a:ext>
            </a:extLst>
          </p:cNvPr>
          <p:cNvSpPr txBox="1"/>
          <p:nvPr/>
        </p:nvSpPr>
        <p:spPr>
          <a:xfrm>
            <a:off x="786809" y="2905529"/>
            <a:ext cx="9346019" cy="219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기존 접근</a:t>
            </a:r>
            <a:r>
              <a:rPr lang="en-US" altLang="ko-KR" sz="1500" b="1" dirty="0"/>
              <a:t>(GARCH, VIX)</a:t>
            </a:r>
            <a:r>
              <a:rPr lang="ko-KR" altLang="en-US" sz="1500" b="1" dirty="0"/>
              <a:t>의 한계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GARCH </a:t>
            </a:r>
            <a:r>
              <a:rPr lang="ko-KR" altLang="en-US" sz="1200" dirty="0"/>
              <a:t>계열 모델</a:t>
            </a:r>
          </a:p>
          <a:p>
            <a:pPr lvl="1">
              <a:spcAft>
                <a:spcPts val="400"/>
              </a:spcAft>
            </a:pPr>
            <a:r>
              <a:rPr lang="ko-KR" altLang="en-US" sz="1200" dirty="0"/>
              <a:t>과거 변동성 패턴을 잘 설명하지만 비선형적</a:t>
            </a:r>
            <a:r>
              <a:rPr lang="en-US" altLang="ko-KR" sz="1200" dirty="0"/>
              <a:t>·</a:t>
            </a:r>
            <a:r>
              <a:rPr lang="ko-KR" altLang="en-US" sz="1200" dirty="0"/>
              <a:t>장기적 패턴 반영이 제한적</a:t>
            </a:r>
          </a:p>
          <a:p>
            <a:pPr lvl="1">
              <a:spcAft>
                <a:spcPts val="1000"/>
              </a:spcAft>
            </a:pPr>
            <a:r>
              <a:rPr lang="ko-KR" altLang="en-US" sz="1200" dirty="0"/>
              <a:t>극단적 이벤트</a:t>
            </a:r>
            <a:r>
              <a:rPr lang="en-US" altLang="ko-KR" sz="1200" dirty="0"/>
              <a:t>(</a:t>
            </a:r>
            <a:r>
              <a:rPr lang="ko-KR" altLang="en-US" sz="1200" dirty="0"/>
              <a:t>팬데믹</a:t>
            </a:r>
            <a:r>
              <a:rPr lang="en-US" altLang="ko-KR" sz="1200" dirty="0"/>
              <a:t>, </a:t>
            </a:r>
            <a:r>
              <a:rPr lang="ko-KR" altLang="en-US" sz="1200" dirty="0"/>
              <a:t>금융위기</a:t>
            </a:r>
            <a:r>
              <a:rPr lang="en-US" altLang="ko-KR" sz="1200" dirty="0"/>
              <a:t>) </a:t>
            </a:r>
            <a:r>
              <a:rPr lang="ko-KR" altLang="en-US" sz="1200" dirty="0"/>
              <a:t>대응력이 낮음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VIX</a:t>
            </a:r>
            <a:endParaRPr lang="ko-KR" altLang="en-US" sz="1200" dirty="0"/>
          </a:p>
          <a:p>
            <a:pPr lvl="1">
              <a:spcAft>
                <a:spcPts val="400"/>
              </a:spcAft>
            </a:pPr>
            <a:r>
              <a:rPr lang="ko-KR" altLang="en-US" sz="1200" dirty="0"/>
              <a:t>시장 기대를 반영하지만 옵션 시장 수급</a:t>
            </a:r>
            <a:r>
              <a:rPr lang="en-US" altLang="ko-KR" sz="1200" dirty="0"/>
              <a:t>·</a:t>
            </a:r>
            <a:r>
              <a:rPr lang="ko-KR" altLang="en-US" sz="1200" dirty="0"/>
              <a:t>왜곡에 영향을 받음</a:t>
            </a:r>
          </a:p>
          <a:p>
            <a:pPr lvl="1">
              <a:spcAft>
                <a:spcPts val="200"/>
              </a:spcAft>
            </a:pPr>
            <a:r>
              <a:rPr lang="ko-KR" altLang="en-US" sz="1200" dirty="0"/>
              <a:t>단독으로는 실현 변동성을 안정적으로 예측하기 어려움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0E35A4-1CF8-C768-897E-3467B1F58C98}"/>
              </a:ext>
            </a:extLst>
          </p:cNvPr>
          <p:cNvSpPr txBox="1"/>
          <p:nvPr/>
        </p:nvSpPr>
        <p:spPr>
          <a:xfrm>
            <a:off x="814693" y="4896844"/>
            <a:ext cx="10243334" cy="105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1500" b="1" dirty="0"/>
              <a:t>LSTM </a:t>
            </a:r>
            <a:r>
              <a:rPr lang="ko-KR" altLang="en-US" sz="1500" b="1" dirty="0"/>
              <a:t>기반 접근의 필요성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LSTM</a:t>
            </a:r>
            <a:r>
              <a:rPr lang="ko-KR" altLang="en-US" sz="1200" dirty="0"/>
              <a:t>은 장</a:t>
            </a:r>
            <a:r>
              <a:rPr lang="en-US" altLang="ko-KR" sz="1200" dirty="0"/>
              <a:t>·</a:t>
            </a:r>
            <a:r>
              <a:rPr lang="ko-KR" altLang="en-US" sz="1200" dirty="0"/>
              <a:t>단기 의존성을 모두 학습할 수 있어서 </a:t>
            </a:r>
            <a:r>
              <a:rPr lang="en-US" altLang="ko-KR" sz="1200" dirty="0"/>
              <a:t>Volatility Clustering, Regime Shift, Nonlinearity</a:t>
            </a:r>
            <a:r>
              <a:rPr lang="ko-KR" altLang="en-US" sz="1200" dirty="0"/>
              <a:t>를 자연스럽게 포착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가격 정보</a:t>
            </a:r>
            <a:r>
              <a:rPr lang="en-US" altLang="ko-KR" sz="1200" dirty="0"/>
              <a:t>, </a:t>
            </a:r>
            <a:r>
              <a:rPr lang="ko-KR" altLang="en-US" sz="1200" dirty="0"/>
              <a:t>과거 변동성</a:t>
            </a:r>
            <a:r>
              <a:rPr lang="en-US" altLang="ko-KR" sz="1200" dirty="0"/>
              <a:t>, GARCH </a:t>
            </a:r>
            <a:r>
              <a:rPr lang="ko-KR" altLang="en-US" sz="1200" dirty="0"/>
              <a:t>예측치</a:t>
            </a:r>
            <a:r>
              <a:rPr lang="en-US" altLang="ko-KR" sz="1200" dirty="0"/>
              <a:t>, VIX </a:t>
            </a:r>
            <a:r>
              <a:rPr lang="ko-KR" altLang="en-US" sz="1200" dirty="0"/>
              <a:t>등 이질적 정보를 시계열 구조에서 통합적으로 학습 가능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전통 모델에서는 설명하기 어려운 실제 시장의 복잡한 변동성 움직임을 데이터 기반으로 직접 학습할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937007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7032CD0C-89C8-374C-CCED-AD9D15E5E76D}"/>
              </a:ext>
            </a:extLst>
          </p:cNvPr>
          <p:cNvSpPr txBox="1">
            <a:spLocks/>
          </p:cNvSpPr>
          <p:nvPr/>
        </p:nvSpPr>
        <p:spPr>
          <a:xfrm>
            <a:off x="474922" y="290998"/>
            <a:ext cx="9836520" cy="88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Data &amp; Experimental Setting</a:t>
            </a:r>
            <a:endParaRPr lang="ko-KR" altLang="en-US" sz="28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5D10F4-890A-5CA5-BAA7-F82000C80859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3E633CEE-EEE6-1F2E-0E0A-E3E881E89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71792"/>
              </p:ext>
            </p:extLst>
          </p:nvPr>
        </p:nvGraphicFramePr>
        <p:xfrm>
          <a:off x="829489" y="1526741"/>
          <a:ext cx="9051111" cy="122664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1520133">
                  <a:extLst>
                    <a:ext uri="{9D8B030D-6E8A-4147-A177-3AD203B41FA5}">
                      <a16:colId xmlns:a16="http://schemas.microsoft.com/office/drawing/2014/main" val="1391655432"/>
                    </a:ext>
                  </a:extLst>
                </a:gridCol>
                <a:gridCol w="7530978">
                  <a:extLst>
                    <a:ext uri="{9D8B030D-6E8A-4147-A177-3AD203B41FA5}">
                      <a16:colId xmlns:a16="http://schemas.microsoft.com/office/drawing/2014/main" val="2592878448"/>
                    </a:ext>
                  </a:extLst>
                </a:gridCol>
              </a:tblGrid>
              <a:tr h="178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/>
                        <a:t>항목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/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779400"/>
                  </a:ext>
                </a:extLst>
              </a:tr>
              <a:tr h="178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데이터 소스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/>
                        <a:t>Yahoo Finance (SPX, VIX)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426968"/>
                  </a:ext>
                </a:extLst>
              </a:tr>
              <a:tr h="178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2000-01-01 ~ 2024-12-31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611124"/>
                  </a:ext>
                </a:extLst>
              </a:tr>
              <a:tr h="178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관측 빈도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일별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782985"/>
                  </a:ext>
                </a:extLst>
              </a:tr>
              <a:tr h="25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사용 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SPX, VIX , ret</a:t>
                      </a:r>
                      <a:r>
                        <a:rPr lang="en-US" altLang="ko-KR" sz="1000" dirty="0"/>
                        <a:t>(SPX </a:t>
                      </a:r>
                      <a:r>
                        <a:rPr lang="ko-KR" altLang="en-US" sz="1000" dirty="0"/>
                        <a:t>로그수익률</a:t>
                      </a:r>
                      <a:r>
                        <a:rPr lang="en-US" altLang="ko-KR" sz="1000" dirty="0"/>
                        <a:t>)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en-US" altLang="ko-KR" sz="1000" b="0" dirty="0" err="1"/>
                        <a:t>realized_vol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실현 변동성</a:t>
                      </a:r>
                      <a:r>
                        <a:rPr lang="en-US" altLang="ko-KR" sz="1000" b="0" dirty="0"/>
                        <a:t>)), </a:t>
                      </a:r>
                      <a:r>
                        <a:rPr lang="en-US" altLang="ko-KR" sz="1000" b="0" dirty="0" err="1"/>
                        <a:t>lag_realized_vol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전일 실현 변동성</a:t>
                      </a:r>
                      <a:r>
                        <a:rPr lang="en-US" altLang="ko-KR" sz="1000" dirty="0"/>
                        <a:t>)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en-US" altLang="ko-KR" sz="1000" b="0" dirty="0" err="1"/>
                        <a:t>garch_vol_pred</a:t>
                      </a:r>
                      <a:r>
                        <a:rPr lang="en-US" altLang="ko-KR" sz="1000" dirty="0"/>
                        <a:t>(GARCH(2,2) </a:t>
                      </a:r>
                      <a:r>
                        <a:rPr lang="ko-KR" altLang="en-US" sz="1000" dirty="0"/>
                        <a:t>예측 변동성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107532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BB63D1A-2054-B3D3-429C-C1D5DB508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556006"/>
              </p:ext>
            </p:extLst>
          </p:nvPr>
        </p:nvGraphicFramePr>
        <p:xfrm>
          <a:off x="829489" y="3798859"/>
          <a:ext cx="9051111" cy="195072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22207">
                  <a:extLst>
                    <a:ext uri="{9D8B030D-6E8A-4147-A177-3AD203B41FA5}">
                      <a16:colId xmlns:a16="http://schemas.microsoft.com/office/drawing/2014/main" val="1055700080"/>
                    </a:ext>
                  </a:extLst>
                </a:gridCol>
                <a:gridCol w="7428904">
                  <a:extLst>
                    <a:ext uri="{9D8B030D-6E8A-4147-A177-3AD203B41FA5}">
                      <a16:colId xmlns:a16="http://schemas.microsoft.com/office/drawing/2014/main" val="816270382"/>
                    </a:ext>
                  </a:extLst>
                </a:gridCol>
              </a:tblGrid>
              <a:tr h="1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/>
                        <a:t>항목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/>
                        <a:t>설정 내용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689015"/>
                  </a:ext>
                </a:extLst>
              </a:tr>
              <a:tr h="1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예측 대상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/>
                        <a:t>S&amp;P 500 Realized Volatility</a:t>
                      </a:r>
                      <a:r>
                        <a:rPr lang="en-US" altLang="ko-KR" sz="1000" dirty="0"/>
                        <a:t> (22</a:t>
                      </a:r>
                      <a:r>
                        <a:rPr lang="ko-KR" altLang="en-US" sz="1000" dirty="0"/>
                        <a:t>일 롤링 표준편차</a:t>
                      </a:r>
                      <a:r>
                        <a:rPr lang="en-US" altLang="ko-KR" sz="1000" dirty="0"/>
                        <a:t>)</a:t>
                      </a:r>
                      <a:endParaRPr lang="en-US" altLang="ko-KR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22204"/>
                  </a:ext>
                </a:extLst>
              </a:tr>
              <a:tr h="1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Lookback Window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최근 </a:t>
                      </a:r>
                      <a:r>
                        <a:rPr lang="en-US" altLang="ko-KR" sz="1000" b="0" dirty="0"/>
                        <a:t>22</a:t>
                      </a:r>
                      <a:r>
                        <a:rPr lang="ko-KR" altLang="en-US" sz="1000" b="0" dirty="0"/>
                        <a:t>일 시계열 입력</a:t>
                      </a:r>
                      <a:endParaRPr lang="en-US" altLang="ko-KR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469869"/>
                  </a:ext>
                </a:extLst>
              </a:tr>
              <a:tr h="1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Feature </a:t>
                      </a:r>
                      <a:r>
                        <a:rPr lang="ko-KR" altLang="en-US" sz="1000" dirty="0"/>
                        <a:t>구성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LSTM: ret, </a:t>
                      </a:r>
                      <a:r>
                        <a:rPr lang="en-US" altLang="ko-KR" sz="1000" dirty="0" err="1"/>
                        <a:t>lag_realized_vol</a:t>
                      </a:r>
                      <a:r>
                        <a:rPr lang="en-US" altLang="ko-KR" sz="1000" dirty="0"/>
                        <a:t> / LSTM-GARCH: ret, </a:t>
                      </a:r>
                      <a:r>
                        <a:rPr lang="en-US" altLang="ko-KR" sz="1000" dirty="0" err="1"/>
                        <a:t>lag_realized_vol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-US" altLang="ko-KR" sz="1000" b="0" dirty="0" err="1"/>
                        <a:t>garch_vol_pred</a:t>
                      </a:r>
                      <a:r>
                        <a:rPr lang="en-US" altLang="ko-KR" sz="1000" dirty="0"/>
                        <a:t>/ Hybrid: ret, </a:t>
                      </a:r>
                      <a:r>
                        <a:rPr lang="en-US" altLang="ko-KR" sz="1000" dirty="0" err="1"/>
                        <a:t>lag_realized_vol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-US" altLang="ko-KR" sz="1000" dirty="0" err="1"/>
                        <a:t>garch_vol__pred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-US" altLang="ko-KR" sz="1000" dirty="0" err="1"/>
                        <a:t>vix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576886"/>
                  </a:ext>
                </a:extLst>
              </a:tr>
              <a:tr h="1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 err="1"/>
                        <a:t>Garch</a:t>
                      </a:r>
                      <a:r>
                        <a:rPr lang="en-US" altLang="ko-KR" sz="1000" b="0" dirty="0"/>
                        <a:t> Train </a:t>
                      </a:r>
                      <a:r>
                        <a:rPr lang="ko-KR" altLang="en-US" sz="1000" b="0" dirty="0"/>
                        <a:t>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2000-01-01 ~ 2006-02-27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360995"/>
                  </a:ext>
                </a:extLst>
              </a:tr>
              <a:tr h="1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Train </a:t>
                      </a:r>
                      <a:r>
                        <a:rPr lang="ko-KR" altLang="en-US" sz="1000" dirty="0"/>
                        <a:t>기간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2006-02-28 ~ 2019-05-06(70%) </a:t>
                      </a:r>
                      <a:endParaRPr lang="en-US" altLang="ko-KR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809643"/>
                  </a:ext>
                </a:extLst>
              </a:tr>
              <a:tr h="1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/>
                        <a:t>Validation</a:t>
                      </a:r>
                      <a:r>
                        <a:rPr lang="ko-KR" altLang="en-US" sz="1000" b="0" dirty="0"/>
                        <a:t>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2019-05-07 ~ 2022-03-01(15%)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954689"/>
                  </a:ext>
                </a:extLst>
              </a:tr>
              <a:tr h="18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/>
                        <a:t>Test </a:t>
                      </a:r>
                      <a:r>
                        <a:rPr lang="ko-KR" altLang="en-US" sz="1000" b="0" dirty="0"/>
                        <a:t>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2022-03-02 ~ 2024-12-31(15%)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89925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3D06FE27-C7EC-FF2C-0C98-6A1D352AC57E}"/>
              </a:ext>
            </a:extLst>
          </p:cNvPr>
          <p:cNvSpPr txBox="1"/>
          <p:nvPr/>
        </p:nvSpPr>
        <p:spPr>
          <a:xfrm>
            <a:off x="666206" y="1113134"/>
            <a:ext cx="839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Data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B7BDFF-81AC-9D69-7C94-9A9928DD396D}"/>
              </a:ext>
            </a:extLst>
          </p:cNvPr>
          <p:cNvSpPr txBox="1"/>
          <p:nvPr/>
        </p:nvSpPr>
        <p:spPr>
          <a:xfrm>
            <a:off x="666206" y="3364461"/>
            <a:ext cx="294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Experimental Setting</a:t>
            </a:r>
            <a:endParaRPr lang="ko-KR" altLang="en-US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A564BC-9DBE-C614-9DE6-48AF4C7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6663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2972BF55-5DA4-787E-4634-36702F49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22" y="290998"/>
            <a:ext cx="9836520" cy="882194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Feature Construction</a:t>
            </a:r>
            <a:endParaRPr lang="ko-KR" altLang="en-US" sz="28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89512-5B3D-48DC-AEB5-B65E12CEB383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37DBF1-6965-6544-F2BF-D8DC811B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1FF2B-016F-D4A1-DD92-CDF14A05EB99}"/>
              </a:ext>
            </a:extLst>
          </p:cNvPr>
          <p:cNvSpPr txBox="1"/>
          <p:nvPr/>
        </p:nvSpPr>
        <p:spPr>
          <a:xfrm>
            <a:off x="906242" y="1271525"/>
            <a:ext cx="11525794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공통 입력 변수</a:t>
            </a:r>
            <a:endParaRPr lang="en-US" altLang="ko-KR" sz="1500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ko-KR" sz="1200" dirty="0" err="1">
                <a:latin typeface="Arial" panose="020B0604020202020204" pitchFamily="34" charset="0"/>
              </a:rPr>
              <a:t>ret</a:t>
            </a:r>
            <a:r>
              <a:rPr lang="ko-KR" altLang="ko-KR" sz="1200" dirty="0">
                <a:latin typeface="Arial" panose="020B0604020202020204" pitchFamily="34" charset="0"/>
              </a:rPr>
              <a:t>: S&amp;P 500 일별 로그수익률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ko-KR" sz="1200" dirty="0" err="1">
                <a:latin typeface="Arial" panose="020B0604020202020204" pitchFamily="34" charset="0"/>
              </a:rPr>
              <a:t>lag_realized_vol</a:t>
            </a:r>
            <a:r>
              <a:rPr lang="ko-KR" altLang="ko-KR" sz="1200" dirty="0">
                <a:latin typeface="Arial" panose="020B0604020202020204" pitchFamily="34" charset="0"/>
              </a:rPr>
              <a:t>: </a:t>
            </a:r>
            <a:r>
              <a:rPr lang="en-US" altLang="ko-KR" sz="1200" dirty="0"/>
              <a:t>22</a:t>
            </a:r>
            <a:r>
              <a:rPr lang="ko-KR" altLang="en-US" sz="1200" dirty="0"/>
              <a:t>일 실현변동성의 </a:t>
            </a:r>
            <a:r>
              <a:rPr lang="ko-KR" altLang="en-US" sz="1200" dirty="0" err="1"/>
              <a:t>지연값으로</a:t>
            </a:r>
            <a:r>
              <a:rPr lang="en-US" altLang="ko-KR" sz="1200" dirty="0"/>
              <a:t>, </a:t>
            </a:r>
            <a:r>
              <a:rPr lang="ko-KR" altLang="en-US" sz="1200" dirty="0"/>
              <a:t>가격 변동성과 변동성 클러스터링 패턴을 반영하는 핵심 입력 변수임</a:t>
            </a:r>
            <a:endParaRPr lang="ko-KR" altLang="en-US" sz="15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FECC7C-891B-79FE-8ABC-93AA6C91EB91}"/>
              </a:ext>
            </a:extLst>
          </p:cNvPr>
          <p:cNvSpPr txBox="1"/>
          <p:nvPr/>
        </p:nvSpPr>
        <p:spPr>
          <a:xfrm>
            <a:off x="906242" y="2434972"/>
            <a:ext cx="8973879" cy="105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 err="1"/>
              <a:t>모델별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Feature </a:t>
            </a:r>
            <a:r>
              <a:rPr lang="ko-KR" altLang="en-US" sz="1500" b="1" dirty="0"/>
              <a:t>세트 구성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LSTM: ret, </a:t>
            </a:r>
            <a:r>
              <a:rPr lang="en-US" altLang="ko-KR" sz="1200" dirty="0" err="1"/>
              <a:t>lag_realized_vol</a:t>
            </a:r>
            <a:endParaRPr lang="en-US" altLang="ko-KR" sz="1200" dirty="0"/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LSTM-GARCH: ret, </a:t>
            </a:r>
            <a:r>
              <a:rPr lang="en-US" altLang="ko-KR" sz="1200" dirty="0" err="1"/>
              <a:t>lag_realized_vol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garch_vol_pred</a:t>
            </a:r>
            <a:endParaRPr lang="en-US" altLang="ko-KR" sz="1200" dirty="0"/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Hybrid (LSTM + GARCH + VIX): ret, </a:t>
            </a:r>
            <a:r>
              <a:rPr lang="en-US" altLang="ko-KR" sz="1200" dirty="0" err="1"/>
              <a:t>lag_realized_vol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garch_vol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vix</a:t>
            </a:r>
            <a:r>
              <a:rPr lang="en-US" altLang="ko-KR" sz="1200" dirty="0"/>
              <a:t> (</a:t>
            </a:r>
            <a:r>
              <a:rPr lang="ko-KR" altLang="en-US" sz="1200" dirty="0"/>
              <a:t>옵션 시장이 반영한 </a:t>
            </a:r>
            <a:r>
              <a:rPr lang="en-US" altLang="ko-KR" sz="1200" dirty="0"/>
              <a:t>30</a:t>
            </a:r>
            <a:r>
              <a:rPr lang="ko-KR" altLang="en-US" sz="1200" dirty="0"/>
              <a:t>일 기대 변동성</a:t>
            </a:r>
            <a:r>
              <a:rPr lang="en-US" altLang="ko-KR" sz="12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B9E28-5B70-B280-13B1-9A96AF23FEC1}"/>
              </a:ext>
            </a:extLst>
          </p:cNvPr>
          <p:cNvSpPr txBox="1"/>
          <p:nvPr/>
        </p:nvSpPr>
        <p:spPr>
          <a:xfrm>
            <a:off x="959757" y="3767724"/>
            <a:ext cx="5500914" cy="1620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500" b="1" dirty="0"/>
              <a:t>Feature</a:t>
            </a:r>
            <a:r>
              <a:rPr lang="ko-KR" altLang="en-US" sz="1500" b="1" dirty="0"/>
              <a:t> 구성 의도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공통적으로 가격 정보와 변동성의 자기상관 구조를 사용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GARCH</a:t>
            </a:r>
            <a:r>
              <a:rPr lang="ko-KR" altLang="en-US" sz="1200" dirty="0"/>
              <a:t>는 단기 조건부 변동성을 제공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VIX</a:t>
            </a:r>
            <a:r>
              <a:rPr lang="ko-KR" altLang="en-US" sz="1200" dirty="0"/>
              <a:t>는 시장 참여자의 기대 변동성 정보를 제공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결합할수록 더 풍부한 정보 기반 예측 가능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4268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C65D-1099-0963-B032-A067A42F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0300338-FAAB-5A54-2A4D-D9A269DD128F}"/>
              </a:ext>
            </a:extLst>
          </p:cNvPr>
          <p:cNvSpPr txBox="1">
            <a:spLocks/>
          </p:cNvSpPr>
          <p:nvPr/>
        </p:nvSpPr>
        <p:spPr>
          <a:xfrm>
            <a:off x="474922" y="290998"/>
            <a:ext cx="9836520" cy="88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Hyperparameter Search &amp; Model Selection</a:t>
            </a:r>
            <a:endParaRPr lang="ko-KR" altLang="en-US" sz="28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349B72-42A9-CF48-C059-AA77C8E20279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7DC393-7C00-A18C-0865-443E30E5BA02}"/>
              </a:ext>
            </a:extLst>
          </p:cNvPr>
          <p:cNvSpPr txBox="1"/>
          <p:nvPr/>
        </p:nvSpPr>
        <p:spPr>
          <a:xfrm>
            <a:off x="555738" y="1321997"/>
            <a:ext cx="6546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dirty="0"/>
              <a:t>LSTM </a:t>
            </a:r>
            <a:r>
              <a:rPr lang="ko-KR" altLang="en-US" sz="1200" dirty="0"/>
              <a:t>모델의 구조에서 </a:t>
            </a:r>
            <a:r>
              <a:rPr lang="en-US" altLang="ko-KR" sz="1200" b="1" dirty="0"/>
              <a:t>units, dropout, learning rate</a:t>
            </a:r>
            <a:r>
              <a:rPr lang="ko-KR" altLang="en-US" sz="1200" dirty="0"/>
              <a:t> 세 가지에 대해 </a:t>
            </a:r>
            <a:r>
              <a:rPr lang="en-US" altLang="ko-KR" sz="1200" dirty="0"/>
              <a:t>Tuning</a:t>
            </a:r>
            <a:r>
              <a:rPr lang="ko-KR" altLang="en-US" sz="1200" dirty="0"/>
              <a:t>을 진행</a:t>
            </a:r>
            <a:endParaRPr lang="en-US" altLang="ko-KR" sz="1200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258F9B6B-FB57-FB3A-A857-B883733B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p5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FC5FF83-05CF-64F9-EFD4-99B1C7DF3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091494"/>
              </p:ext>
            </p:extLst>
          </p:nvPr>
        </p:nvGraphicFramePr>
        <p:xfrm>
          <a:off x="666206" y="1707371"/>
          <a:ext cx="6436436" cy="1371600"/>
        </p:xfrm>
        <a:graphic>
          <a:graphicData uri="http://schemas.openxmlformats.org/drawingml/2006/table">
            <a:tbl>
              <a:tblPr/>
              <a:tblGrid>
                <a:gridCol w="604548">
                  <a:extLst>
                    <a:ext uri="{9D8B030D-6E8A-4147-A177-3AD203B41FA5}">
                      <a16:colId xmlns:a16="http://schemas.microsoft.com/office/drawing/2014/main" val="4114636524"/>
                    </a:ext>
                  </a:extLst>
                </a:gridCol>
                <a:gridCol w="1457972">
                  <a:extLst>
                    <a:ext uri="{9D8B030D-6E8A-4147-A177-3AD203B41FA5}">
                      <a16:colId xmlns:a16="http://schemas.microsoft.com/office/drawing/2014/main" val="3055017869"/>
                    </a:ext>
                  </a:extLst>
                </a:gridCol>
                <a:gridCol w="1457972">
                  <a:extLst>
                    <a:ext uri="{9D8B030D-6E8A-4147-A177-3AD203B41FA5}">
                      <a16:colId xmlns:a16="http://schemas.microsoft.com/office/drawing/2014/main" val="220328137"/>
                    </a:ext>
                  </a:extLst>
                </a:gridCol>
                <a:gridCol w="1457972">
                  <a:extLst>
                    <a:ext uri="{9D8B030D-6E8A-4147-A177-3AD203B41FA5}">
                      <a16:colId xmlns:a16="http://schemas.microsoft.com/office/drawing/2014/main" val="2565072793"/>
                    </a:ext>
                  </a:extLst>
                </a:gridCol>
                <a:gridCol w="1457972">
                  <a:extLst>
                    <a:ext uri="{9D8B030D-6E8A-4147-A177-3AD203B41FA5}">
                      <a16:colId xmlns:a16="http://schemas.microsoft.com/office/drawing/2014/main" val="1905529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버전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Units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Dropout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Learning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Best Val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6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64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0.001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0.000591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554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128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0.1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0.001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0.062041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46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128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0.2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0.001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0.000625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058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128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0.1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0.0005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0.000629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57999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C6CE7AB-DED3-A14F-2F6D-4A3E0360397D}"/>
              </a:ext>
            </a:extLst>
          </p:cNvPr>
          <p:cNvSpPr txBox="1"/>
          <p:nvPr/>
        </p:nvSpPr>
        <p:spPr>
          <a:xfrm>
            <a:off x="609600" y="3249990"/>
            <a:ext cx="103441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결과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버전 </a:t>
            </a:r>
            <a:r>
              <a:rPr lang="en-US" altLang="ko-KR" sz="1200" b="1" dirty="0"/>
              <a:t>1 (units=64, dropout=0.1, </a:t>
            </a:r>
            <a:r>
              <a:rPr lang="en-US" altLang="ko-KR" sz="1200" b="1" dirty="0" err="1"/>
              <a:t>lr</a:t>
            </a:r>
            <a:r>
              <a:rPr lang="en-US" altLang="ko-KR" sz="1200" b="1" dirty="0"/>
              <a:t>=0.001)</a:t>
            </a:r>
            <a:r>
              <a:rPr lang="ko-KR" altLang="en-US" sz="1200" b="1" dirty="0"/>
              <a:t> 채택 </a:t>
            </a:r>
            <a:endParaRPr lang="en-US" altLang="ko-KR" sz="1200" b="1" dirty="0"/>
          </a:p>
          <a:p>
            <a:endParaRPr lang="en-US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 모든 조합에 대해 </a:t>
            </a:r>
            <a:r>
              <a:rPr lang="en-US" altLang="ko-KR" sz="1200" dirty="0"/>
              <a:t>validation loss</a:t>
            </a:r>
            <a:r>
              <a:rPr lang="ko-KR" altLang="en-US" sz="1200" dirty="0"/>
              <a:t>가 큰 차이를 보이지는 않았으나</a:t>
            </a:r>
            <a:r>
              <a:rPr lang="en-US" altLang="ko-KR" sz="1200" dirty="0"/>
              <a:t>, units=64, dropout=0.1, </a:t>
            </a:r>
            <a:r>
              <a:rPr lang="en-US" altLang="ko-KR" sz="1200" dirty="0" err="1"/>
              <a:t>lr</a:t>
            </a:r>
            <a:r>
              <a:rPr lang="en-US" altLang="ko-KR" sz="1200" dirty="0"/>
              <a:t>=0.001</a:t>
            </a:r>
            <a:r>
              <a:rPr lang="ko-KR" altLang="en-US" sz="1200" dirty="0"/>
              <a:t> 조합이 가장 낮은 </a:t>
            </a:r>
            <a:r>
              <a:rPr lang="en-US" altLang="ko-KR" sz="1200" dirty="0" err="1"/>
              <a:t>val_loss</a:t>
            </a:r>
            <a:r>
              <a:rPr lang="ko-KR" altLang="en-US" sz="1200" dirty="0"/>
              <a:t>를 기록 </a:t>
            </a:r>
            <a:endParaRPr lang="en-US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 </a:t>
            </a:r>
            <a:r>
              <a:rPr lang="ko-KR" altLang="en-US" sz="1200" dirty="0"/>
              <a:t> </a:t>
            </a:r>
            <a:r>
              <a:rPr lang="en-US" altLang="ko-KR" sz="1200" dirty="0"/>
              <a:t>64-unit </a:t>
            </a:r>
            <a:r>
              <a:rPr lang="ko-KR" altLang="en-US" sz="1200" dirty="0"/>
              <a:t>모델은 </a:t>
            </a:r>
            <a:r>
              <a:rPr lang="en-US" altLang="ko-KR" sz="1200" dirty="0"/>
              <a:t>validation loss </a:t>
            </a:r>
            <a:r>
              <a:rPr lang="ko-KR" altLang="en-US" sz="1200" dirty="0"/>
              <a:t>대비 연산 복잡도가 낮아 실전 활용성을 고려할 때 효율적이라는 장점이 있음</a:t>
            </a:r>
            <a:endParaRPr lang="en-US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 128-unit </a:t>
            </a:r>
            <a:r>
              <a:rPr lang="ko-KR" altLang="en-US" sz="1200" dirty="0"/>
              <a:t>조합 중 일부</a:t>
            </a:r>
            <a:r>
              <a:rPr lang="en-US" altLang="ko-KR" sz="1200" dirty="0"/>
              <a:t>(</a:t>
            </a:r>
            <a:r>
              <a:rPr lang="ko-KR" altLang="en-US" sz="1200" dirty="0"/>
              <a:t>버전 </a:t>
            </a:r>
            <a:r>
              <a:rPr lang="en-US" altLang="ko-KR" sz="1200" dirty="0"/>
              <a:t>2)</a:t>
            </a:r>
            <a:r>
              <a:rPr lang="ko-KR" altLang="en-US" sz="1200" dirty="0"/>
              <a:t>는 오히려 </a:t>
            </a:r>
            <a:r>
              <a:rPr lang="en-US" altLang="ko-KR" sz="1200" dirty="0" err="1"/>
              <a:t>val_loss</a:t>
            </a:r>
            <a:r>
              <a:rPr lang="ko-KR" altLang="en-US" sz="1200" dirty="0"/>
              <a:t>가 크게 증가하여</a:t>
            </a:r>
            <a:r>
              <a:rPr lang="en-US" altLang="ko-KR" sz="1200" dirty="0"/>
              <a:t>, </a:t>
            </a:r>
            <a:r>
              <a:rPr lang="ko-KR" altLang="en-US" sz="1200" dirty="0"/>
              <a:t>은닉 유닛 수를 단순히 늘리는 것이 항상 성능 개선으로 이어지지 않음을 확인</a:t>
            </a:r>
            <a:endParaRPr lang="en-US" altLang="ko-KR" sz="12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 해당 버전은 </a:t>
            </a:r>
            <a:r>
              <a:rPr lang="en-US" altLang="ko-KR" sz="1200" dirty="0"/>
              <a:t>validation loss</a:t>
            </a:r>
            <a:r>
              <a:rPr lang="ko-KR" altLang="en-US" sz="1200" dirty="0"/>
              <a:t>가 개선되지 않아 </a:t>
            </a:r>
            <a:r>
              <a:rPr lang="en-US" altLang="ko-KR" sz="1200" dirty="0" err="1"/>
              <a:t>EarlyStopping</a:t>
            </a:r>
            <a:r>
              <a:rPr lang="ko-KR" altLang="en-US" sz="1200" dirty="0"/>
              <a:t>에 의해 약 </a:t>
            </a:r>
            <a:r>
              <a:rPr lang="en-US" altLang="ko-KR" sz="1200" dirty="0"/>
              <a:t>10 epoch</a:t>
            </a:r>
            <a:r>
              <a:rPr lang="ko-KR" altLang="en-US" sz="1200" dirty="0"/>
              <a:t>에서 조기 종료됨 </a:t>
            </a:r>
            <a:endParaRPr lang="en-US" altLang="ko-KR" sz="12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모델 규모가 커질수록 초기 수렴이 느려지는 경향이 있어</a:t>
            </a:r>
            <a:r>
              <a:rPr lang="en-US" altLang="ko-KR" sz="1200" dirty="0"/>
              <a:t>,  </a:t>
            </a:r>
            <a:r>
              <a:rPr lang="ko-KR" altLang="en-US" sz="1200" dirty="0"/>
              <a:t>충분한 학습 기회를 갖지 못해 상대적으로 큰 </a:t>
            </a:r>
            <a:r>
              <a:rPr lang="en-US" altLang="ko-KR" sz="1200" dirty="0" err="1"/>
              <a:t>val_loss</a:t>
            </a:r>
            <a:r>
              <a:rPr lang="ko-KR" altLang="en-US" sz="1200" dirty="0"/>
              <a:t>가 기록된 것으로 보임 </a:t>
            </a:r>
            <a:endParaRPr lang="en-US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 Layer </a:t>
            </a:r>
            <a:r>
              <a:rPr lang="ko-KR" altLang="en-US" sz="1200" dirty="0"/>
              <a:t>의 경우</a:t>
            </a:r>
            <a:r>
              <a:rPr lang="en-US" altLang="ko-KR" sz="1200" dirty="0"/>
              <a:t>, </a:t>
            </a:r>
            <a:r>
              <a:rPr lang="ko-KR" altLang="en-US" sz="1200" dirty="0"/>
              <a:t>단층보다 </a:t>
            </a:r>
            <a:r>
              <a:rPr lang="en-US" altLang="ko-KR" sz="1200" dirty="0"/>
              <a:t>layer</a:t>
            </a:r>
            <a:r>
              <a:rPr lang="ko-KR" altLang="en-US" sz="1200" dirty="0"/>
              <a:t>가 </a:t>
            </a:r>
            <a:r>
              <a:rPr lang="en-US" altLang="ko-KR" sz="1200" dirty="0"/>
              <a:t>2</a:t>
            </a:r>
            <a:r>
              <a:rPr lang="ko-KR" altLang="en-US" sz="1200" dirty="0" err="1"/>
              <a:t>일때</a:t>
            </a:r>
            <a:r>
              <a:rPr lang="ko-KR" altLang="en-US" sz="1200" dirty="0"/>
              <a:t> 장기 패턴 포착에 유리하면서도</a:t>
            </a:r>
            <a:r>
              <a:rPr lang="en-US" altLang="ko-KR" sz="1200" dirty="0"/>
              <a:t>, </a:t>
            </a:r>
            <a:r>
              <a:rPr lang="ko-KR" altLang="en-US" sz="1200" dirty="0"/>
              <a:t>깊은 네트워크에 비해 </a:t>
            </a:r>
            <a:r>
              <a:rPr lang="ko-KR" altLang="en-US" sz="1200" dirty="0" err="1"/>
              <a:t>과적합</a:t>
            </a:r>
            <a:r>
              <a:rPr lang="ko-KR" altLang="en-US" sz="1200" dirty="0"/>
              <a:t> 위험이 상대적으로 낮아</a:t>
            </a:r>
            <a:r>
              <a:rPr lang="en-US" altLang="ko-KR" sz="1200" dirty="0"/>
              <a:t>, </a:t>
            </a:r>
            <a:r>
              <a:rPr lang="ko-KR" altLang="en-US" sz="1200" dirty="0"/>
              <a:t>튜닝 대상에서 제외 </a:t>
            </a:r>
            <a:endParaRPr lang="en-US" altLang="ko-KR" sz="12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endParaRPr lang="en-US" altLang="ko-KR" sz="1200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4016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02459-397E-9B68-F3F2-19CCF9DE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058DCCA3-DE78-9869-00C3-7E489C405B32}"/>
              </a:ext>
            </a:extLst>
          </p:cNvPr>
          <p:cNvSpPr txBox="1">
            <a:spLocks/>
          </p:cNvSpPr>
          <p:nvPr/>
        </p:nvSpPr>
        <p:spPr>
          <a:xfrm>
            <a:off x="474922" y="290998"/>
            <a:ext cx="9836520" cy="88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Model Architecture</a:t>
            </a:r>
            <a:endParaRPr lang="ko-KR" altLang="en-US" sz="28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4A367B-66AE-321E-3408-3458D27E9397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FCB21D-BDCB-A725-8A52-4975AB0D408C}"/>
              </a:ext>
            </a:extLst>
          </p:cNvPr>
          <p:cNvSpPr txBox="1"/>
          <p:nvPr/>
        </p:nvSpPr>
        <p:spPr>
          <a:xfrm>
            <a:off x="555738" y="1321997"/>
            <a:ext cx="4959787" cy="3824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공통 </a:t>
            </a:r>
            <a:r>
              <a:rPr lang="en-US" altLang="ko-KR" sz="1500" b="1" dirty="0"/>
              <a:t>LSTM </a:t>
            </a:r>
            <a:r>
              <a:rPr lang="ko-KR" altLang="en-US" sz="1500" b="1" dirty="0"/>
              <a:t>구조 </a:t>
            </a:r>
            <a:r>
              <a:rPr lang="en-US" altLang="ko-KR" sz="1500" b="1" dirty="0"/>
              <a:t>(2-Layer LSTM)</a:t>
            </a:r>
          </a:p>
          <a:p>
            <a:pPr>
              <a:spcAft>
                <a:spcPts val="200"/>
              </a:spcAft>
            </a:pPr>
            <a:r>
              <a:rPr lang="en-US" altLang="ko-KR" sz="1200" dirty="0"/>
              <a:t>        </a:t>
            </a:r>
            <a:r>
              <a:rPr lang="ko-KR" altLang="en-US" sz="1200" dirty="0"/>
              <a:t>세 모델은 모두 동일한 </a:t>
            </a:r>
            <a:r>
              <a:rPr lang="en-US" altLang="ko-KR" sz="1200" dirty="0"/>
              <a:t>LSTM </a:t>
            </a:r>
            <a:r>
              <a:rPr lang="ko-KR" altLang="en-US" sz="1200" dirty="0"/>
              <a:t>구조를 사용하여 </a:t>
            </a:r>
            <a:r>
              <a:rPr lang="en-US" altLang="ko-KR" sz="1200" dirty="0"/>
              <a:t>Feature </a:t>
            </a:r>
            <a:r>
              <a:rPr lang="ko-KR" altLang="en-US" sz="1200" dirty="0"/>
              <a:t>차이로</a:t>
            </a:r>
            <a:endParaRPr lang="en-US" altLang="ko-KR" sz="1200" dirty="0"/>
          </a:p>
          <a:p>
            <a:pPr>
              <a:spcAft>
                <a:spcPts val="600"/>
              </a:spcAft>
            </a:pPr>
            <a:r>
              <a:rPr lang="en-US" altLang="ko-KR" sz="1200" dirty="0"/>
              <a:t>        </a:t>
            </a:r>
            <a:r>
              <a:rPr lang="ko-KR" altLang="en-US" sz="1200" dirty="0"/>
              <a:t>인한 성능 변화를 공정하게 비교하도록 설계함</a:t>
            </a:r>
            <a:endParaRPr lang="en-US" altLang="ko-KR" sz="1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LSTM Layer 1</a:t>
            </a:r>
          </a:p>
          <a:p>
            <a:pPr lvl="1"/>
            <a:r>
              <a:rPr lang="en-US" altLang="ko-KR" sz="1200" dirty="0"/>
              <a:t>64 units</a:t>
            </a:r>
          </a:p>
          <a:p>
            <a:pPr lvl="1"/>
            <a:r>
              <a:rPr lang="en-US" altLang="ko-KR" sz="1200" dirty="0"/>
              <a:t>activation = tanh</a:t>
            </a:r>
          </a:p>
          <a:p>
            <a:pPr lvl="1"/>
            <a:r>
              <a:rPr lang="en-US" altLang="ko-KR" sz="1200" dirty="0" err="1"/>
              <a:t>return_sequences</a:t>
            </a:r>
            <a:r>
              <a:rPr lang="en-US" altLang="ko-KR" sz="1200" dirty="0"/>
              <a:t> = True</a:t>
            </a:r>
          </a:p>
          <a:p>
            <a:pPr lvl="1">
              <a:spcAft>
                <a:spcPts val="1000"/>
              </a:spcAft>
            </a:pPr>
            <a:r>
              <a:rPr lang="en-US" altLang="ko-KR" sz="1200" dirty="0"/>
              <a:t>Dropout 0.1 </a:t>
            </a:r>
            <a:r>
              <a:rPr lang="ko-KR" altLang="en-US" sz="1200" dirty="0"/>
              <a:t>적용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LSTM Layer 2</a:t>
            </a:r>
          </a:p>
          <a:p>
            <a:pPr lvl="1"/>
            <a:r>
              <a:rPr lang="en-US" altLang="ko-KR" sz="1200" dirty="0"/>
              <a:t>64 units</a:t>
            </a:r>
          </a:p>
          <a:p>
            <a:pPr lvl="1"/>
            <a:r>
              <a:rPr lang="en-US" altLang="ko-KR" sz="1200" dirty="0"/>
              <a:t>activation = tanh</a:t>
            </a:r>
          </a:p>
          <a:p>
            <a:pPr lvl="1"/>
            <a:r>
              <a:rPr lang="en-US" altLang="ko-KR" sz="1200" dirty="0" err="1"/>
              <a:t>return_sequences</a:t>
            </a:r>
            <a:r>
              <a:rPr lang="en-US" altLang="ko-KR" sz="1200" dirty="0"/>
              <a:t> = False</a:t>
            </a:r>
          </a:p>
          <a:p>
            <a:pPr lvl="1">
              <a:spcAft>
                <a:spcPts val="1000"/>
              </a:spcAft>
            </a:pPr>
            <a:r>
              <a:rPr lang="en-US" altLang="ko-KR" sz="1200" dirty="0"/>
              <a:t>Dropout 0.1 </a:t>
            </a:r>
            <a:r>
              <a:rPr lang="ko-KR" altLang="en-US" sz="1200" dirty="0"/>
              <a:t>적용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Output Layer</a:t>
            </a:r>
          </a:p>
          <a:p>
            <a:pPr lvl="1"/>
            <a:r>
              <a:rPr lang="en-US" altLang="ko-KR" sz="1200" dirty="0"/>
              <a:t>Dense(1)</a:t>
            </a:r>
          </a:p>
          <a:p>
            <a:pPr lvl="1"/>
            <a:r>
              <a:rPr lang="en-US" altLang="ko-KR" sz="1200" dirty="0"/>
              <a:t>activation = </a:t>
            </a:r>
            <a:r>
              <a:rPr lang="en-US" altLang="ko-KR" sz="1200" dirty="0" err="1"/>
              <a:t>ReLU</a:t>
            </a:r>
            <a:r>
              <a:rPr lang="en-US" altLang="ko-KR" sz="1200" dirty="0"/>
              <a:t> (</a:t>
            </a:r>
            <a:r>
              <a:rPr lang="ko-KR" altLang="en-US" sz="1200" dirty="0"/>
              <a:t>변동성은 음수가 될 수 없기 때문에 </a:t>
            </a:r>
            <a:r>
              <a:rPr lang="en-US" altLang="ko-KR" sz="1200" dirty="0" err="1"/>
              <a:t>ReLU</a:t>
            </a:r>
            <a:r>
              <a:rPr lang="en-US" altLang="ko-KR" sz="1200" dirty="0"/>
              <a:t> </a:t>
            </a:r>
            <a:r>
              <a:rPr lang="ko-KR" altLang="en-US" sz="1200" dirty="0"/>
              <a:t>사용</a:t>
            </a:r>
            <a:r>
              <a:rPr lang="en-US" altLang="ko-KR" sz="1200" dirty="0"/>
              <a:t>)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498DD961-4519-6E41-4891-696F5A97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p5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28B9A3-9FE4-DFF0-A536-2BB98A953228}"/>
              </a:ext>
            </a:extLst>
          </p:cNvPr>
          <p:cNvSpPr txBox="1"/>
          <p:nvPr/>
        </p:nvSpPr>
        <p:spPr>
          <a:xfrm>
            <a:off x="6101221" y="1321997"/>
            <a:ext cx="5962650" cy="17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시계열 입력 구조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Lookback Window</a:t>
            </a:r>
            <a:r>
              <a:rPr lang="ko-KR" altLang="en-US" sz="1200" dirty="0"/>
              <a:t>는 지난 </a:t>
            </a:r>
            <a:r>
              <a:rPr lang="en-US" altLang="ko-KR" sz="1200" dirty="0"/>
              <a:t>22</a:t>
            </a:r>
            <a:r>
              <a:rPr lang="ko-KR" altLang="en-US" sz="1200" dirty="0"/>
              <a:t>일간의 시계열 데이터를 하나의 입력 샘플로 사용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입력 형태</a:t>
            </a:r>
            <a:r>
              <a:rPr lang="en-US" altLang="ko-KR" sz="1200" dirty="0"/>
              <a:t>(22 × Feature </a:t>
            </a:r>
            <a:r>
              <a:rPr lang="ko-KR" altLang="en-US" sz="1200" dirty="0"/>
              <a:t>수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lvl="1"/>
            <a:r>
              <a:rPr lang="en-US" altLang="ko-KR" sz="1200" dirty="0"/>
              <a:t>LSTM: 22×2</a:t>
            </a:r>
          </a:p>
          <a:p>
            <a:pPr lvl="1"/>
            <a:r>
              <a:rPr lang="en-US" altLang="ko-KR" sz="1200" dirty="0"/>
              <a:t>LSTM-GARCH: 22×3</a:t>
            </a:r>
          </a:p>
          <a:p>
            <a:pPr lvl="1"/>
            <a:r>
              <a:rPr lang="en-US" altLang="ko-KR" sz="1200" dirty="0"/>
              <a:t>Hybrid: 22×4</a:t>
            </a:r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4A26D3-4013-431C-69EA-1A0193D5698D}"/>
              </a:ext>
            </a:extLst>
          </p:cNvPr>
          <p:cNvSpPr txBox="1"/>
          <p:nvPr/>
        </p:nvSpPr>
        <p:spPr>
          <a:xfrm>
            <a:off x="6101221" y="3215036"/>
            <a:ext cx="5600700" cy="1882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학습 설정</a:t>
            </a:r>
            <a:endParaRPr lang="en-US" altLang="ko-KR" sz="1500" b="1" dirty="0"/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Optimizer: Adam (</a:t>
            </a:r>
            <a:r>
              <a:rPr lang="en-US" altLang="ko-KR" sz="1200" dirty="0" err="1"/>
              <a:t>lr</a:t>
            </a:r>
            <a:r>
              <a:rPr lang="en-US" altLang="ko-KR" sz="1200" dirty="0"/>
              <a:t>=0.001)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Loss: MSE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200" dirty="0" err="1"/>
              <a:t>EarlyStopping</a:t>
            </a:r>
            <a:endParaRPr lang="en-US" altLang="ko-KR" sz="1200" dirty="0"/>
          </a:p>
          <a:p>
            <a:pPr lvl="1">
              <a:spcAft>
                <a:spcPts val="400"/>
              </a:spcAft>
            </a:pPr>
            <a:r>
              <a:rPr lang="ko-KR" altLang="en-US" sz="1200" dirty="0"/>
              <a:t>기준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val_loss</a:t>
            </a:r>
            <a:endParaRPr lang="en-US" altLang="ko-KR" sz="1200" dirty="0"/>
          </a:p>
          <a:p>
            <a:pPr lvl="1">
              <a:spcAft>
                <a:spcPts val="400"/>
              </a:spcAft>
            </a:pPr>
            <a:r>
              <a:rPr lang="en-US" altLang="ko-KR" sz="1200" dirty="0"/>
              <a:t>10 epoch </a:t>
            </a:r>
            <a:r>
              <a:rPr lang="ko-KR" altLang="en-US" sz="1200" dirty="0"/>
              <a:t>동안 </a:t>
            </a:r>
            <a:r>
              <a:rPr lang="en-US" altLang="ko-KR" sz="1200" dirty="0"/>
              <a:t> </a:t>
            </a:r>
            <a:r>
              <a:rPr lang="ko-KR" altLang="en-US" sz="1200" dirty="0"/>
              <a:t>추가 개선이 없으면 학습 중단 및 </a:t>
            </a:r>
            <a:r>
              <a:rPr lang="en-US" altLang="ko-KR" sz="1200" dirty="0"/>
              <a:t>best weights </a:t>
            </a:r>
            <a:r>
              <a:rPr lang="ko-KR" altLang="en-US" sz="1200" dirty="0"/>
              <a:t>복원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10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B6EE0-B5F4-01D0-9536-AD5AE1E82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6A734985-937B-CFA1-A644-4C0D5801E00E}"/>
              </a:ext>
            </a:extLst>
          </p:cNvPr>
          <p:cNvSpPr txBox="1">
            <a:spLocks/>
          </p:cNvSpPr>
          <p:nvPr/>
        </p:nvSpPr>
        <p:spPr>
          <a:xfrm>
            <a:off x="474922" y="290998"/>
            <a:ext cx="9836520" cy="88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Model Architecture</a:t>
            </a:r>
            <a:endParaRPr lang="ko-KR" altLang="en-US" sz="28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C3EB42-8363-A81A-AC1D-23A1E8503861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462190-1B70-F63B-09EE-D7C894DC5D92}"/>
              </a:ext>
            </a:extLst>
          </p:cNvPr>
          <p:cNvSpPr txBox="1"/>
          <p:nvPr/>
        </p:nvSpPr>
        <p:spPr>
          <a:xfrm>
            <a:off x="683867" y="1258218"/>
            <a:ext cx="9305260" cy="184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500" b="1" dirty="0"/>
              <a:t>Model 1: LSTM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입력 차원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22 × 2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사용 </a:t>
            </a:r>
            <a:r>
              <a:rPr lang="en-US" altLang="ko-KR" sz="1200" dirty="0"/>
              <a:t>Feature: ret (SPX </a:t>
            </a:r>
            <a:r>
              <a:rPr lang="ko-KR" altLang="en-US" sz="1200" dirty="0"/>
              <a:t>로그수익률</a:t>
            </a:r>
            <a:r>
              <a:rPr lang="en-US" altLang="ko-KR" sz="1200" dirty="0"/>
              <a:t>), </a:t>
            </a:r>
            <a:r>
              <a:rPr lang="en-US" altLang="ko-KR" sz="1200" dirty="0" err="1"/>
              <a:t>lag_realized_vol</a:t>
            </a:r>
            <a:r>
              <a:rPr lang="en-US" altLang="ko-KR" sz="1200" dirty="0"/>
              <a:t> (</a:t>
            </a:r>
            <a:r>
              <a:rPr lang="ko-KR" altLang="en-US" sz="1200" dirty="0"/>
              <a:t>전일 실현 변동성</a:t>
            </a:r>
            <a:r>
              <a:rPr lang="en-US" altLang="ko-KR" sz="1200" dirty="0"/>
              <a:t>)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특징</a:t>
            </a:r>
          </a:p>
          <a:p>
            <a:pPr lvl="1">
              <a:spcAft>
                <a:spcPts val="400"/>
              </a:spcAft>
            </a:pPr>
            <a:r>
              <a:rPr lang="ko-KR" altLang="en-US" sz="1200" dirty="0"/>
              <a:t>가격 정보와 변동성의 자기상관만으로 예측</a:t>
            </a:r>
          </a:p>
          <a:p>
            <a:pPr lvl="1">
              <a:spcAft>
                <a:spcPts val="400"/>
              </a:spcAft>
            </a:pPr>
            <a:r>
              <a:rPr lang="ko-KR" altLang="en-US" sz="1200" dirty="0" err="1"/>
              <a:t>딥러닝만으로</a:t>
            </a:r>
            <a:r>
              <a:rPr lang="ko-KR" altLang="en-US" sz="1200" dirty="0"/>
              <a:t> 어느 정도까지 변동성을 설명할 수 있는지 보여주는 기본 기준</a:t>
            </a:r>
          </a:p>
          <a:p>
            <a:pPr>
              <a:spcAft>
                <a:spcPts val="600"/>
              </a:spcAft>
            </a:pPr>
            <a:endParaRPr lang="en-US" altLang="ko-KR" sz="1200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33BD34BB-F3F2-5521-17FA-AFBFAC74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p6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789CB9-8088-FACD-2EFD-8107F51DF896}"/>
              </a:ext>
            </a:extLst>
          </p:cNvPr>
          <p:cNvSpPr txBox="1"/>
          <p:nvPr/>
        </p:nvSpPr>
        <p:spPr>
          <a:xfrm>
            <a:off x="666205" y="2917791"/>
            <a:ext cx="806279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500" b="1" dirty="0"/>
              <a:t>Model 2: LSTM-GARCH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입력 차원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22 × 3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사용 </a:t>
            </a:r>
            <a:r>
              <a:rPr lang="en-US" altLang="ko-KR" sz="1200" dirty="0"/>
              <a:t>Feature:</a:t>
            </a:r>
            <a:r>
              <a:rPr lang="ko-KR" altLang="en-US" sz="1200" dirty="0"/>
              <a:t> </a:t>
            </a:r>
            <a:r>
              <a:rPr lang="en-US" altLang="ko-KR" sz="1200" dirty="0"/>
              <a:t>ret, </a:t>
            </a:r>
            <a:r>
              <a:rPr lang="en-US" altLang="ko-KR" sz="1200" dirty="0" err="1"/>
              <a:t>lag_realized_vol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garch_vol_pred</a:t>
            </a:r>
            <a:endParaRPr lang="en-US" altLang="ko-KR" sz="1200" dirty="0"/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특징</a:t>
            </a:r>
          </a:p>
          <a:p>
            <a:pPr lvl="1">
              <a:spcAft>
                <a:spcPts val="400"/>
              </a:spcAft>
            </a:pPr>
            <a:r>
              <a:rPr lang="ko-KR" altLang="en-US" sz="1200" dirty="0"/>
              <a:t>전통적 </a:t>
            </a:r>
            <a:r>
              <a:rPr lang="en-US" altLang="ko-KR" sz="1200" dirty="0"/>
              <a:t>GARCH </a:t>
            </a:r>
            <a:r>
              <a:rPr lang="ko-KR" altLang="en-US" sz="1200" dirty="0"/>
              <a:t>모델이 추정한 단기 조건부 변동성 정보를 </a:t>
            </a:r>
            <a:r>
              <a:rPr lang="en-US" altLang="ko-KR" sz="1200" dirty="0"/>
              <a:t>LSTM</a:t>
            </a:r>
            <a:r>
              <a:rPr lang="ko-KR" altLang="en-US" sz="1200" dirty="0"/>
              <a:t>에 주입</a:t>
            </a:r>
          </a:p>
          <a:p>
            <a:pPr lvl="1">
              <a:spcAft>
                <a:spcPts val="400"/>
              </a:spcAft>
            </a:pPr>
            <a:r>
              <a:rPr lang="ko-KR" altLang="en-US" sz="1200" dirty="0"/>
              <a:t>전통적 통계 모델</a:t>
            </a:r>
            <a:r>
              <a:rPr lang="en-US" altLang="ko-KR" sz="1200" dirty="0"/>
              <a:t>(GARCH)</a:t>
            </a:r>
            <a:r>
              <a:rPr lang="ko-KR" altLang="en-US" sz="1200" dirty="0"/>
              <a:t>과 딥러닝</a:t>
            </a:r>
            <a:r>
              <a:rPr lang="en-US" altLang="ko-KR" sz="1200" dirty="0"/>
              <a:t>(LSTM)</a:t>
            </a:r>
            <a:r>
              <a:rPr lang="ko-KR" altLang="en-US" sz="1200" dirty="0"/>
              <a:t>을 결합한 하이브리드 구조로 예측 안정성 향상 시도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16622-1DC1-E378-0E30-06D1227E8EDD}"/>
              </a:ext>
            </a:extLst>
          </p:cNvPr>
          <p:cNvSpPr txBox="1"/>
          <p:nvPr/>
        </p:nvSpPr>
        <p:spPr>
          <a:xfrm>
            <a:off x="683867" y="4644368"/>
            <a:ext cx="9501142" cy="193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500" b="1" dirty="0"/>
              <a:t>Model 3: Hybrid (LSTM + GARCH + VIX)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입력 차원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22 × 4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사용 </a:t>
            </a:r>
            <a:r>
              <a:rPr lang="en-US" altLang="ko-KR" sz="1200" dirty="0"/>
              <a:t>Feature: ret, </a:t>
            </a:r>
            <a:r>
              <a:rPr lang="en-US" altLang="ko-KR" sz="1200" dirty="0" err="1"/>
              <a:t>lag_realized_vol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garch_vol_pred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vix</a:t>
            </a:r>
            <a:r>
              <a:rPr lang="en-US" altLang="ko-KR" sz="1200" dirty="0"/>
              <a:t> 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특징</a:t>
            </a:r>
          </a:p>
          <a:p>
            <a:pPr lvl="1">
              <a:spcAft>
                <a:spcPts val="400"/>
              </a:spcAft>
            </a:pPr>
            <a:r>
              <a:rPr lang="ko-KR" altLang="en-US" sz="1200" dirty="0"/>
              <a:t>과거 </a:t>
            </a:r>
            <a:r>
              <a:rPr lang="en-US" altLang="ko-KR" sz="1200" dirty="0"/>
              <a:t>realized vol + GARCH </a:t>
            </a:r>
            <a:r>
              <a:rPr lang="ko-KR" altLang="en-US" sz="1200" dirty="0"/>
              <a:t>예측 </a:t>
            </a:r>
            <a:r>
              <a:rPr lang="en-US" altLang="ko-KR" sz="1200" dirty="0"/>
              <a:t>+ </a:t>
            </a:r>
            <a:r>
              <a:rPr lang="ko-KR" altLang="en-US" sz="1200" dirty="0"/>
              <a:t>옵션 시장의 기대</a:t>
            </a:r>
            <a:r>
              <a:rPr lang="en-US" altLang="ko-KR" sz="1200" dirty="0"/>
              <a:t>(VIX)</a:t>
            </a:r>
            <a:r>
              <a:rPr lang="ko-KR" altLang="en-US" sz="1200" dirty="0"/>
              <a:t> 를 모두 결합한 하이브리드 구조</a:t>
            </a:r>
          </a:p>
          <a:p>
            <a:pPr lvl="1">
              <a:spcAft>
                <a:spcPts val="400"/>
              </a:spcAft>
            </a:pPr>
            <a:r>
              <a:rPr lang="ko-KR" altLang="en-US" sz="1200" dirty="0"/>
              <a:t>데이터 기반</a:t>
            </a:r>
            <a:r>
              <a:rPr lang="en-US" altLang="ko-KR" sz="1200" dirty="0"/>
              <a:t>(</a:t>
            </a:r>
            <a:r>
              <a:rPr lang="ko-KR" altLang="en-US" sz="1200" dirty="0"/>
              <a:t>실현 변동성</a:t>
            </a:r>
            <a:r>
              <a:rPr lang="en-US" altLang="ko-KR" sz="1200" dirty="0"/>
              <a:t>) + </a:t>
            </a:r>
            <a:r>
              <a:rPr lang="ko-KR" altLang="en-US" sz="1200" dirty="0"/>
              <a:t>모형 기반</a:t>
            </a:r>
            <a:r>
              <a:rPr lang="en-US" altLang="ko-KR" sz="1200" dirty="0"/>
              <a:t>(GARCH) + </a:t>
            </a:r>
            <a:r>
              <a:rPr lang="ko-KR" altLang="en-US" sz="1200" dirty="0"/>
              <a:t>시장 기대</a:t>
            </a:r>
            <a:r>
              <a:rPr lang="en-US" altLang="ko-KR" sz="1200" dirty="0"/>
              <a:t>(VIX)</a:t>
            </a:r>
            <a:r>
              <a:rPr lang="ko-KR" altLang="en-US" sz="1200" dirty="0"/>
              <a:t>를</a:t>
            </a:r>
            <a:r>
              <a:rPr lang="en-US" altLang="ko-KR" sz="1200" dirty="0"/>
              <a:t>LSTM</a:t>
            </a:r>
            <a:r>
              <a:rPr lang="ko-KR" altLang="en-US" sz="1200" dirty="0"/>
              <a:t>이 한 번에 학습하도록 설계한 가장 </a:t>
            </a:r>
            <a:r>
              <a:rPr lang="ko-KR" altLang="en-US" sz="1200" dirty="0" err="1"/>
              <a:t>리치한</a:t>
            </a:r>
            <a:r>
              <a:rPr lang="ko-KR" altLang="en-US" sz="1200" dirty="0"/>
              <a:t> 정보 조합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329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C85FC-01C2-48E1-03C4-14948FA8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7B70449-FE92-C631-EAB3-34060CC85A19}"/>
              </a:ext>
            </a:extLst>
          </p:cNvPr>
          <p:cNvSpPr txBox="1">
            <a:spLocks/>
          </p:cNvSpPr>
          <p:nvPr/>
        </p:nvSpPr>
        <p:spPr>
          <a:xfrm>
            <a:off x="474922" y="290998"/>
            <a:ext cx="9836520" cy="88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 – LSTM(Model 1)</a:t>
            </a:r>
            <a:endParaRPr lang="ko-KR" altLang="en-US" sz="18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161674-26E0-0676-C3A2-3A569348622B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DA31A-4632-6B55-85FC-F2A7B4FF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p7</a:t>
            </a:r>
            <a:endParaRPr lang="ko-KR" altLang="en-US" dirty="0"/>
          </a:p>
        </p:txBody>
      </p:sp>
      <p:pic>
        <p:nvPicPr>
          <p:cNvPr id="3" name="그림 2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0685E1-F489-F3C7-B49E-C797D8C32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2" y="2733700"/>
            <a:ext cx="6632380" cy="30692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04F181-E277-DD60-ADA8-9D8D18755621}"/>
              </a:ext>
            </a:extLst>
          </p:cNvPr>
          <p:cNvSpPr txBox="1"/>
          <p:nvPr/>
        </p:nvSpPr>
        <p:spPr>
          <a:xfrm>
            <a:off x="7365690" y="1538388"/>
            <a:ext cx="4062715" cy="124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성능 지표 분석</a:t>
            </a:r>
            <a:r>
              <a:rPr lang="en-US" altLang="ko-KR" sz="1500" b="1" dirty="0"/>
              <a:t> </a:t>
            </a:r>
            <a:endParaRPr lang="ko-KR" altLang="en-US" sz="1500" b="1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MAE</a:t>
            </a:r>
            <a:r>
              <a:rPr lang="ko-KR" altLang="en-US" sz="1200" dirty="0"/>
              <a:t>와 </a:t>
            </a:r>
            <a:r>
              <a:rPr lang="en-US" altLang="ko-KR" sz="1200" dirty="0"/>
              <a:t>RMSE</a:t>
            </a:r>
            <a:r>
              <a:rPr lang="ko-KR" altLang="en-US" sz="1200" dirty="0"/>
              <a:t>가 가장 낮은 모델</a:t>
            </a:r>
            <a:endParaRPr lang="en-US" altLang="ko-KR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예측 정확성과 안정성 측면에서 가장 우수한 성능을 보임</a:t>
            </a:r>
            <a:endParaRPr lang="ko-KR" altLang="ko-K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200"/>
              </a:spcAft>
            </a:pPr>
            <a:endParaRPr lang="en-US" altLang="ko-KR" sz="1200" dirty="0">
              <a:latin typeface="Arial" panose="020B0604020202020204" pitchFamily="34" charset="0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7AE47CF5-8796-AE81-C009-39C5CD9A5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546276"/>
              </p:ext>
            </p:extLst>
          </p:nvPr>
        </p:nvGraphicFramePr>
        <p:xfrm>
          <a:off x="720635" y="1631731"/>
          <a:ext cx="6436437" cy="548640"/>
        </p:xfrm>
        <a:graphic>
          <a:graphicData uri="http://schemas.openxmlformats.org/drawingml/2006/table">
            <a:tbl>
              <a:tblPr/>
              <a:tblGrid>
                <a:gridCol w="3688224">
                  <a:extLst>
                    <a:ext uri="{9D8B030D-6E8A-4147-A177-3AD203B41FA5}">
                      <a16:colId xmlns:a16="http://schemas.microsoft.com/office/drawing/2014/main" val="4114636524"/>
                    </a:ext>
                  </a:extLst>
                </a:gridCol>
                <a:gridCol w="1348914">
                  <a:extLst>
                    <a:ext uri="{9D8B030D-6E8A-4147-A177-3AD203B41FA5}">
                      <a16:colId xmlns:a16="http://schemas.microsoft.com/office/drawing/2014/main" val="3055017869"/>
                    </a:ext>
                  </a:extLst>
                </a:gridCol>
                <a:gridCol w="1399299">
                  <a:extLst>
                    <a:ext uri="{9D8B030D-6E8A-4147-A177-3AD203B41FA5}">
                      <a16:colId xmlns:a16="http://schemas.microsoft.com/office/drawing/2014/main" val="220328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모델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6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0.000546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0.000791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554811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B7969EF-D838-3E06-ECB2-FE42F1C8AEBB}"/>
              </a:ext>
            </a:extLst>
          </p:cNvPr>
          <p:cNvSpPr txBox="1"/>
          <p:nvPr/>
        </p:nvSpPr>
        <p:spPr>
          <a:xfrm>
            <a:off x="7365690" y="2821800"/>
            <a:ext cx="4884367" cy="2313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ko-KR" altLang="en-US" sz="1500" b="1" dirty="0"/>
              <a:t>예측 그래프 분석</a:t>
            </a:r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/>
              <a:t>초반</a:t>
            </a:r>
            <a:r>
              <a:rPr lang="en-US" altLang="ko-KR" sz="1200" dirty="0"/>
              <a:t>(0~200): </a:t>
            </a:r>
            <a:r>
              <a:rPr lang="ko-KR" altLang="en-US" sz="1200" dirty="0"/>
              <a:t>급등 구간을 정확히 따라가며 과도한 과대반응이나 과소반응 없이 매끄럽게 대응함</a:t>
            </a:r>
            <a:endParaRPr lang="en-US" altLang="ko-KR" sz="1200" dirty="0"/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/>
              <a:t>중반</a:t>
            </a:r>
            <a:r>
              <a:rPr lang="en-US" altLang="ko-KR" sz="1200" dirty="0"/>
              <a:t>(200~500): </a:t>
            </a:r>
            <a:r>
              <a:rPr lang="ko-KR" altLang="en-US" sz="1200" dirty="0"/>
              <a:t>두 선의 차이가 거의 보이지 않고 완만한 하락</a:t>
            </a:r>
            <a:r>
              <a:rPr lang="en-US" altLang="ko-KR" sz="1200" dirty="0"/>
              <a:t>·</a:t>
            </a:r>
            <a:r>
              <a:rPr lang="ko-KR" altLang="en-US" sz="1200" dirty="0"/>
              <a:t>횡보 흐름을 정확히 재현</a:t>
            </a:r>
            <a:endParaRPr lang="en-US" altLang="ko-KR" sz="1200" dirty="0"/>
          </a:p>
          <a:p>
            <a:pPr marL="171450" indent="-1714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sz="1200" b="1" dirty="0"/>
              <a:t>후반</a:t>
            </a:r>
            <a:r>
              <a:rPr lang="en-US" altLang="ko-KR" sz="1200" dirty="0"/>
              <a:t>(500~700): </a:t>
            </a:r>
            <a:r>
              <a:rPr lang="ko-KR" altLang="en-US" sz="1200" dirty="0"/>
              <a:t>변동성 </a:t>
            </a:r>
            <a:r>
              <a:rPr lang="ko-KR" altLang="en-US" sz="1200" dirty="0" err="1"/>
              <a:t>재상승</a:t>
            </a:r>
            <a:r>
              <a:rPr lang="ko-KR" altLang="en-US" sz="1200" dirty="0"/>
              <a:t> 구간에서 피크의 위치와 높이를 정확히 반영</a:t>
            </a:r>
            <a:r>
              <a:rPr lang="en-US" altLang="ko-KR" sz="1200" dirty="0"/>
              <a:t>, </a:t>
            </a:r>
            <a:r>
              <a:rPr lang="ko-KR" altLang="en-US" sz="1200" dirty="0"/>
              <a:t>세부 파형까지 거의 동일함</a:t>
            </a:r>
            <a:endParaRPr lang="en-US" altLang="ko-KR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전체 구간에서 실제 변동성과 </a:t>
            </a:r>
            <a:r>
              <a:rPr lang="ko-KR" altLang="en-US" sz="1200" dirty="0" err="1"/>
              <a:t>예측값이</a:t>
            </a:r>
            <a:r>
              <a:rPr lang="ko-KR" altLang="en-US" sz="1200" dirty="0"/>
              <a:t> 거의 완전히 겹치며 급등</a:t>
            </a:r>
            <a:r>
              <a:rPr lang="en-US" altLang="ko-KR" sz="1200" dirty="0"/>
              <a:t>·</a:t>
            </a:r>
            <a:r>
              <a:rPr lang="ko-KR" altLang="en-US" sz="1200" dirty="0"/>
              <a:t>급락 시점에서도 민감하고 안정적인 추적이 이루어짐</a:t>
            </a:r>
            <a:endParaRPr lang="ko-KR" altLang="ko-KR" sz="1200" dirty="0">
              <a:latin typeface="Arial" panose="020B0604020202020204" pitchFamily="34" charset="0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4D8D50D-F97C-E376-4608-C793A46DD38A}"/>
              </a:ext>
            </a:extLst>
          </p:cNvPr>
          <p:cNvCxnSpPr>
            <a:cxnSpLocks/>
          </p:cNvCxnSpPr>
          <p:nvPr/>
        </p:nvCxnSpPr>
        <p:spPr>
          <a:xfrm>
            <a:off x="2888805" y="2677658"/>
            <a:ext cx="0" cy="2866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BDEB8BE-EF8D-86DD-A982-85EA6EA7EF2D}"/>
              </a:ext>
            </a:extLst>
          </p:cNvPr>
          <p:cNvCxnSpPr>
            <a:cxnSpLocks/>
          </p:cNvCxnSpPr>
          <p:nvPr/>
        </p:nvCxnSpPr>
        <p:spPr>
          <a:xfrm>
            <a:off x="5276399" y="2684918"/>
            <a:ext cx="0" cy="2866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524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E2E3F-57CD-3E6D-2DB1-C01DDFEC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AEE3325-34B1-E7A8-FD28-3A91EB748F87}"/>
              </a:ext>
            </a:extLst>
          </p:cNvPr>
          <p:cNvSpPr txBox="1">
            <a:spLocks/>
          </p:cNvSpPr>
          <p:nvPr/>
        </p:nvSpPr>
        <p:spPr>
          <a:xfrm>
            <a:off x="474922" y="290998"/>
            <a:ext cx="9836520" cy="88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 – LSTM-GARCH (Model 2)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8DDE6A-C61E-0006-FC75-5319CCCC61B5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DF66E3-DB86-1698-7F57-22E4D405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p8</a:t>
            </a:r>
            <a:endParaRPr lang="ko-KR" altLang="en-US" dirty="0"/>
          </a:p>
        </p:txBody>
      </p:sp>
      <p:pic>
        <p:nvPicPr>
          <p:cNvPr id="14" name="그림 13" descr="텍스트, 라인, 그래프, 스크린샷이(가) 표시된 사진">
            <a:extLst>
              <a:ext uri="{FF2B5EF4-FFF2-40B4-BE49-F238E27FC236}">
                <a16:creationId xmlns:a16="http://schemas.microsoft.com/office/drawing/2014/main" id="{C60F20FC-8216-7422-372F-CBCDAE3B7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85" y="2695164"/>
            <a:ext cx="6631200" cy="3068753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5E0DA7-9B3A-1D7E-2217-24DB2FC35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654679"/>
              </p:ext>
            </p:extLst>
          </p:nvPr>
        </p:nvGraphicFramePr>
        <p:xfrm>
          <a:off x="727169" y="1607604"/>
          <a:ext cx="6436437" cy="548640"/>
        </p:xfrm>
        <a:graphic>
          <a:graphicData uri="http://schemas.openxmlformats.org/drawingml/2006/table">
            <a:tbl>
              <a:tblPr/>
              <a:tblGrid>
                <a:gridCol w="3688224">
                  <a:extLst>
                    <a:ext uri="{9D8B030D-6E8A-4147-A177-3AD203B41FA5}">
                      <a16:colId xmlns:a16="http://schemas.microsoft.com/office/drawing/2014/main" val="4114636524"/>
                    </a:ext>
                  </a:extLst>
                </a:gridCol>
                <a:gridCol w="1348914">
                  <a:extLst>
                    <a:ext uri="{9D8B030D-6E8A-4147-A177-3AD203B41FA5}">
                      <a16:colId xmlns:a16="http://schemas.microsoft.com/office/drawing/2014/main" val="3055017869"/>
                    </a:ext>
                  </a:extLst>
                </a:gridCol>
                <a:gridCol w="1399299">
                  <a:extLst>
                    <a:ext uri="{9D8B030D-6E8A-4147-A177-3AD203B41FA5}">
                      <a16:colId xmlns:a16="http://schemas.microsoft.com/office/drawing/2014/main" val="220328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모델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6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LSTM_GARCH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0.000605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0.000839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5548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E375651-EECC-A086-25E2-DEE26BFD3633}"/>
              </a:ext>
            </a:extLst>
          </p:cNvPr>
          <p:cNvSpPr txBox="1"/>
          <p:nvPr/>
        </p:nvSpPr>
        <p:spPr>
          <a:xfrm>
            <a:off x="7365690" y="1538388"/>
            <a:ext cx="4062715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성능 지표 분석</a:t>
            </a:r>
            <a:r>
              <a:rPr lang="en-US" altLang="ko-KR" sz="1500" b="1" dirty="0"/>
              <a:t> </a:t>
            </a:r>
            <a:endParaRPr lang="ko-KR" altLang="en-US" sz="1500" b="1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ko-KR" sz="1200" dirty="0" err="1">
                <a:latin typeface="Arial" panose="020B0604020202020204" pitchFamily="34" charset="0"/>
              </a:rPr>
              <a:t>MAE와</a:t>
            </a:r>
            <a:r>
              <a:rPr lang="ko-KR" altLang="ko-KR" sz="1200" dirty="0">
                <a:latin typeface="Arial" panose="020B0604020202020204" pitchFamily="34" charset="0"/>
              </a:rPr>
              <a:t> </a:t>
            </a:r>
            <a:r>
              <a:rPr lang="ko-KR" altLang="ko-KR" sz="1200" dirty="0" err="1">
                <a:latin typeface="Arial" panose="020B0604020202020204" pitchFamily="34" charset="0"/>
              </a:rPr>
              <a:t>RMSE가</a:t>
            </a:r>
            <a:r>
              <a:rPr lang="ko-KR" altLang="ko-KR" sz="1200" dirty="0">
                <a:latin typeface="Arial" panose="020B0604020202020204" pitchFamily="34" charset="0"/>
              </a:rPr>
              <a:t> 낮은 값으로 나타나면서 전반적인 예측 오차의 안정적 축소가 이루어짐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두 지표의 균형적 수준 유지로 일관된 예측 품질 확보가 확인됨</a:t>
            </a:r>
          </a:p>
          <a:p>
            <a:pPr lvl="0" eaLnBrk="0" fontAlgn="base" hangingPunct="0">
              <a:spcBef>
                <a:spcPct val="0"/>
              </a:spcBef>
              <a:spcAft>
                <a:spcPts val="200"/>
              </a:spcAft>
            </a:pPr>
            <a:endParaRPr lang="en-US" altLang="ko-KR" sz="1200" dirty="0"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01391E-9436-E416-9A39-5479EFCEC97C}"/>
              </a:ext>
            </a:extLst>
          </p:cNvPr>
          <p:cNvSpPr txBox="1"/>
          <p:nvPr/>
        </p:nvSpPr>
        <p:spPr>
          <a:xfrm>
            <a:off x="7365690" y="2821800"/>
            <a:ext cx="4564743" cy="2682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예측 그래프 분석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Arial" panose="020B0604020202020204" pitchFamily="34" charset="0"/>
              </a:rPr>
              <a:t>초반</a:t>
            </a:r>
            <a:r>
              <a:rPr lang="ko-KR" altLang="ko-KR" sz="1200" dirty="0">
                <a:latin typeface="Arial" panose="020B0604020202020204" pitchFamily="34" charset="0"/>
              </a:rPr>
              <a:t>(0~</a:t>
            </a:r>
            <a:r>
              <a:rPr lang="en-US" altLang="ko-KR" sz="1200" dirty="0">
                <a:latin typeface="Arial" panose="020B0604020202020204" pitchFamily="34" charset="0"/>
              </a:rPr>
              <a:t>20</a:t>
            </a:r>
            <a:r>
              <a:rPr lang="ko-KR" altLang="ko-KR" sz="1200" dirty="0">
                <a:latin typeface="Arial" panose="020B0604020202020204" pitchFamily="34" charset="0"/>
              </a:rPr>
              <a:t>0): 급격한 변동을 정확히 따라가며 부드러운 </a:t>
            </a:r>
            <a:r>
              <a:rPr lang="ko-KR" altLang="ko-KR" sz="1200" dirty="0" err="1">
                <a:latin typeface="Arial" panose="020B0604020202020204" pitchFamily="34" charset="0"/>
              </a:rPr>
              <a:t>추적력</a:t>
            </a:r>
            <a:r>
              <a:rPr lang="ko-KR" altLang="ko-KR" sz="1200" dirty="0">
                <a:latin typeface="Arial" panose="020B0604020202020204" pitchFamily="34" charset="0"/>
              </a:rPr>
              <a:t> 확보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Arial" panose="020B0604020202020204" pitchFamily="34" charset="0"/>
              </a:rPr>
              <a:t>중반</a:t>
            </a:r>
            <a:r>
              <a:rPr lang="ko-KR" altLang="ko-KR" sz="1200" dirty="0">
                <a:latin typeface="Arial" panose="020B0604020202020204" pitchFamily="34" charset="0"/>
              </a:rPr>
              <a:t>(200~500): 완만한 흐름을 거의 동일하게 재현하며 오차가 거의 없음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Arial" panose="020B0604020202020204" pitchFamily="34" charset="0"/>
              </a:rPr>
              <a:t>후반</a:t>
            </a:r>
            <a:r>
              <a:rPr lang="ko-KR" altLang="ko-KR" sz="1200" dirty="0">
                <a:latin typeface="Arial" panose="020B0604020202020204" pitchFamily="34" charset="0"/>
              </a:rPr>
              <a:t>(5</a:t>
            </a:r>
            <a:r>
              <a:rPr lang="en-US" altLang="ko-KR" sz="1200" dirty="0">
                <a:latin typeface="Arial" panose="020B0604020202020204" pitchFamily="34" charset="0"/>
              </a:rPr>
              <a:t>00</a:t>
            </a:r>
            <a:r>
              <a:rPr lang="ko-KR" altLang="ko-KR" sz="1200" dirty="0">
                <a:latin typeface="Arial" panose="020B0604020202020204" pitchFamily="34" charset="0"/>
              </a:rPr>
              <a:t>~</a:t>
            </a:r>
            <a:r>
              <a:rPr lang="en-US" altLang="ko-KR" sz="1200" dirty="0">
                <a:latin typeface="Arial" panose="020B0604020202020204" pitchFamily="34" charset="0"/>
              </a:rPr>
              <a:t>70</a:t>
            </a:r>
            <a:r>
              <a:rPr lang="ko-KR" altLang="ko-KR" sz="1200" dirty="0">
                <a:latin typeface="Arial" panose="020B0604020202020204" pitchFamily="34" charset="0"/>
              </a:rPr>
              <a:t>0): 변동성 </a:t>
            </a:r>
            <a:r>
              <a:rPr lang="ko-KR" altLang="ko-KR" sz="1200" dirty="0" err="1">
                <a:latin typeface="Arial" panose="020B0604020202020204" pitchFamily="34" charset="0"/>
              </a:rPr>
              <a:t>재상승</a:t>
            </a:r>
            <a:r>
              <a:rPr lang="ko-KR" altLang="ko-KR" sz="1200" dirty="0">
                <a:latin typeface="Arial" panose="020B0604020202020204" pitchFamily="34" charset="0"/>
              </a:rPr>
              <a:t> 국면의 피크 위치와 형태를 정확히 포착</a:t>
            </a:r>
            <a:endParaRPr lang="en-US" altLang="ko-KR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전체적으로 실제 변동성과 유사한 흐름을 보이지만</a:t>
            </a:r>
            <a:r>
              <a:rPr lang="en-US" altLang="ko-KR" sz="1200" dirty="0"/>
              <a:t>, </a:t>
            </a:r>
            <a:r>
              <a:rPr lang="ko-KR" altLang="en-US" sz="1200" dirty="0"/>
              <a:t>급등</a:t>
            </a:r>
            <a:r>
              <a:rPr lang="en-US" altLang="ko-KR" sz="1200" dirty="0"/>
              <a:t>·</a:t>
            </a:r>
            <a:r>
              <a:rPr lang="ko-KR" altLang="en-US" sz="1200" dirty="0"/>
              <a:t>급락 구간에서 다소 약한 반응이 나타나는 등 </a:t>
            </a:r>
            <a:r>
              <a:rPr lang="en-US" altLang="ko-KR" sz="1200" dirty="0"/>
              <a:t>LSTM</a:t>
            </a:r>
            <a:r>
              <a:rPr lang="ko-KR" altLang="en-US" sz="1200" dirty="0"/>
              <a:t>에 비해 </a:t>
            </a:r>
            <a:r>
              <a:rPr lang="ko-KR" altLang="en-US" sz="1200" dirty="0" err="1"/>
              <a:t>추적력이</a:t>
            </a:r>
            <a:r>
              <a:rPr lang="ko-KR" altLang="en-US" sz="1200" dirty="0"/>
              <a:t> 조금 떨어지는 모습이 확인됨</a:t>
            </a:r>
            <a:endParaRPr lang="en-US" altLang="ko-KR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ko-KR" altLang="ko-KR" sz="1200" dirty="0">
              <a:latin typeface="Arial" panose="020B0604020202020204" pitchFamily="34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070BA1F-960E-C08A-9AA3-19E16EE5FDEE}"/>
              </a:ext>
            </a:extLst>
          </p:cNvPr>
          <p:cNvCxnSpPr>
            <a:cxnSpLocks/>
          </p:cNvCxnSpPr>
          <p:nvPr/>
        </p:nvCxnSpPr>
        <p:spPr>
          <a:xfrm>
            <a:off x="2903319" y="2626859"/>
            <a:ext cx="0" cy="2866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1F5A976-1093-718B-8655-64BEFA4EC73D}"/>
              </a:ext>
            </a:extLst>
          </p:cNvPr>
          <p:cNvCxnSpPr>
            <a:cxnSpLocks/>
          </p:cNvCxnSpPr>
          <p:nvPr/>
        </p:nvCxnSpPr>
        <p:spPr>
          <a:xfrm>
            <a:off x="5298176" y="2632943"/>
            <a:ext cx="0" cy="2866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41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FC36-6494-1F57-83B4-4168D8E6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1E3C91-9D49-C431-267E-7A1A109596A6}"/>
              </a:ext>
            </a:extLst>
          </p:cNvPr>
          <p:cNvSpPr txBox="1">
            <a:spLocks/>
          </p:cNvSpPr>
          <p:nvPr/>
        </p:nvSpPr>
        <p:spPr>
          <a:xfrm>
            <a:off x="474922" y="290998"/>
            <a:ext cx="9836520" cy="88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 – Hybrid(Model 3)</a:t>
            </a:r>
            <a:endParaRPr lang="ko-KR" altLang="en-US" sz="18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0C4134-323A-8BFC-A94B-066338CE22D8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C47DA-5C84-9941-4382-C3C7297A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p9</a:t>
            </a:r>
            <a:endParaRPr lang="ko-KR" altLang="en-US" dirty="0"/>
          </a:p>
        </p:txBody>
      </p:sp>
      <p:pic>
        <p:nvPicPr>
          <p:cNvPr id="17" name="그림 16" descr="텍스트, 라인, 그래프, 도표이(가) 표시된 사진">
            <a:extLst>
              <a:ext uri="{FF2B5EF4-FFF2-40B4-BE49-F238E27FC236}">
                <a16:creationId xmlns:a16="http://schemas.microsoft.com/office/drawing/2014/main" id="{0D005F7A-798F-9FBF-E018-3F3AFB086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57" y="2781362"/>
            <a:ext cx="6631200" cy="3068753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B701440-E24A-6738-8D61-761B52708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901759"/>
              </p:ext>
            </p:extLst>
          </p:nvPr>
        </p:nvGraphicFramePr>
        <p:xfrm>
          <a:off x="743120" y="1637306"/>
          <a:ext cx="6436437" cy="548640"/>
        </p:xfrm>
        <a:graphic>
          <a:graphicData uri="http://schemas.openxmlformats.org/drawingml/2006/table">
            <a:tbl>
              <a:tblPr/>
              <a:tblGrid>
                <a:gridCol w="3688224">
                  <a:extLst>
                    <a:ext uri="{9D8B030D-6E8A-4147-A177-3AD203B41FA5}">
                      <a16:colId xmlns:a16="http://schemas.microsoft.com/office/drawing/2014/main" val="4114636524"/>
                    </a:ext>
                  </a:extLst>
                </a:gridCol>
                <a:gridCol w="1348914">
                  <a:extLst>
                    <a:ext uri="{9D8B030D-6E8A-4147-A177-3AD203B41FA5}">
                      <a16:colId xmlns:a16="http://schemas.microsoft.com/office/drawing/2014/main" val="3055017869"/>
                    </a:ext>
                  </a:extLst>
                </a:gridCol>
                <a:gridCol w="1399299">
                  <a:extLst>
                    <a:ext uri="{9D8B030D-6E8A-4147-A177-3AD203B41FA5}">
                      <a16:colId xmlns:a16="http://schemas.microsoft.com/office/drawing/2014/main" val="220328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모델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6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Hybrid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0.000699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0.000949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554811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1607F9A-573E-3B4B-71D5-729736EA818F}"/>
              </a:ext>
            </a:extLst>
          </p:cNvPr>
          <p:cNvCxnSpPr>
            <a:cxnSpLocks/>
          </p:cNvCxnSpPr>
          <p:nvPr/>
        </p:nvCxnSpPr>
        <p:spPr>
          <a:xfrm>
            <a:off x="2903319" y="2695227"/>
            <a:ext cx="0" cy="2866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1B551AC-C2A5-ACDE-C260-38811C2F377E}"/>
              </a:ext>
            </a:extLst>
          </p:cNvPr>
          <p:cNvCxnSpPr>
            <a:cxnSpLocks/>
          </p:cNvCxnSpPr>
          <p:nvPr/>
        </p:nvCxnSpPr>
        <p:spPr>
          <a:xfrm>
            <a:off x="5303265" y="2727983"/>
            <a:ext cx="0" cy="2866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F76C4B-3B53-B9A5-65C4-399E81DD94E1}"/>
              </a:ext>
            </a:extLst>
          </p:cNvPr>
          <p:cNvSpPr txBox="1"/>
          <p:nvPr/>
        </p:nvSpPr>
        <p:spPr>
          <a:xfrm>
            <a:off x="7365690" y="1538388"/>
            <a:ext cx="5029510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성능 지표 분석</a:t>
            </a:r>
            <a:r>
              <a:rPr lang="en-US" altLang="ko-KR" sz="1500" b="1" dirty="0"/>
              <a:t> </a:t>
            </a:r>
            <a:endParaRPr lang="ko-KR" altLang="en-US" sz="1500" b="1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MAE</a:t>
            </a:r>
            <a:r>
              <a:rPr lang="ko-KR" altLang="en-US" sz="1200" dirty="0"/>
              <a:t>와 </a:t>
            </a:r>
            <a:r>
              <a:rPr lang="en-US" altLang="ko-KR" sz="1200" dirty="0"/>
              <a:t>RMSE</a:t>
            </a:r>
            <a:r>
              <a:rPr lang="ko-KR" altLang="en-US" sz="1200" dirty="0"/>
              <a:t>가 세 모델 중 가장 높게 나타남</a:t>
            </a:r>
            <a:endParaRPr lang="en-US" altLang="ko-KR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 LSTM, LSTM-GARCH </a:t>
            </a:r>
            <a:r>
              <a:rPr lang="ko-KR" altLang="en-US" sz="1200" dirty="0"/>
              <a:t>대비 전반적인 예측 정확도가 가장 낮은 수준임</a:t>
            </a:r>
            <a:endParaRPr lang="en-US" altLang="ko-KR" sz="1200" dirty="0"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A9983-89ED-B641-AA89-F5BF13B89690}"/>
              </a:ext>
            </a:extLst>
          </p:cNvPr>
          <p:cNvSpPr txBox="1"/>
          <p:nvPr/>
        </p:nvSpPr>
        <p:spPr>
          <a:xfrm>
            <a:off x="7365690" y="2821800"/>
            <a:ext cx="4702939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예측 그래프 분석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Arial" panose="020B0604020202020204" pitchFamily="34" charset="0"/>
              </a:rPr>
              <a:t>초반</a:t>
            </a:r>
            <a:r>
              <a:rPr lang="ko-KR" altLang="ko-KR" sz="1200" dirty="0">
                <a:latin typeface="Arial" panose="020B0604020202020204" pitchFamily="34" charset="0"/>
              </a:rPr>
              <a:t>(0~</a:t>
            </a:r>
            <a:r>
              <a:rPr lang="en-US" altLang="ko-KR" sz="1200" dirty="0">
                <a:latin typeface="Arial" panose="020B0604020202020204" pitchFamily="34" charset="0"/>
              </a:rPr>
              <a:t>20</a:t>
            </a:r>
            <a:r>
              <a:rPr lang="ko-KR" altLang="ko-KR" sz="1200" dirty="0">
                <a:latin typeface="Arial" panose="020B0604020202020204" pitchFamily="34" charset="0"/>
              </a:rPr>
              <a:t>0): </a:t>
            </a:r>
            <a:r>
              <a:rPr lang="ko-KR" altLang="en-US" sz="1200" dirty="0"/>
              <a:t>급등 구간의 큰 흐름은 따라가지만</a:t>
            </a:r>
            <a:r>
              <a:rPr lang="en-US" altLang="ko-KR" sz="1200" dirty="0"/>
              <a:t>, </a:t>
            </a:r>
            <a:r>
              <a:rPr lang="ko-KR" altLang="en-US" sz="1200" dirty="0"/>
              <a:t>피크 근처에서 실제보다 크게 흔들리거나 작게 반응하는 모습이 자주 나타남</a:t>
            </a:r>
            <a:endParaRPr lang="ko-KR" altLang="ko-KR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Arial" panose="020B0604020202020204" pitchFamily="34" charset="0"/>
              </a:rPr>
              <a:t>중반</a:t>
            </a:r>
            <a:r>
              <a:rPr lang="ko-KR" altLang="ko-KR" sz="1200" dirty="0">
                <a:latin typeface="Arial" panose="020B0604020202020204" pitchFamily="34" charset="0"/>
              </a:rPr>
              <a:t>(200~500): </a:t>
            </a:r>
            <a:r>
              <a:rPr lang="ko-KR" altLang="en-US" sz="1200" dirty="0"/>
              <a:t>하락</a:t>
            </a:r>
            <a:r>
              <a:rPr lang="en-US" altLang="ko-KR" sz="1200" dirty="0"/>
              <a:t>·</a:t>
            </a:r>
            <a:r>
              <a:rPr lang="ko-KR" altLang="en-US" sz="1200" dirty="0"/>
              <a:t>횡보 구간을 전체적으로 잘 재현하지만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세밀한 굴곡에서는 예측선의 변동폭이 실제보다 약간 더 큰 편</a:t>
            </a:r>
            <a:endParaRPr lang="en-US" altLang="ko-KR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Arial" panose="020B0604020202020204" pitchFamily="34" charset="0"/>
              </a:rPr>
              <a:t>후반</a:t>
            </a:r>
            <a:r>
              <a:rPr lang="ko-KR" altLang="ko-KR" sz="1200" dirty="0">
                <a:latin typeface="Arial" panose="020B0604020202020204" pitchFamily="34" charset="0"/>
              </a:rPr>
              <a:t>(5</a:t>
            </a:r>
            <a:r>
              <a:rPr lang="en-US" altLang="ko-KR" sz="1200" dirty="0">
                <a:latin typeface="Arial" panose="020B0604020202020204" pitchFamily="34" charset="0"/>
              </a:rPr>
              <a:t>00</a:t>
            </a:r>
            <a:r>
              <a:rPr lang="ko-KR" altLang="ko-KR" sz="1200" dirty="0">
                <a:latin typeface="Arial" panose="020B0604020202020204" pitchFamily="34" charset="0"/>
              </a:rPr>
              <a:t>~</a:t>
            </a:r>
            <a:r>
              <a:rPr lang="en-US" altLang="ko-KR" sz="1200" dirty="0">
                <a:latin typeface="Arial" panose="020B0604020202020204" pitchFamily="34" charset="0"/>
              </a:rPr>
              <a:t>70</a:t>
            </a:r>
            <a:r>
              <a:rPr lang="ko-KR" altLang="ko-KR" sz="1200" dirty="0">
                <a:latin typeface="Arial" panose="020B0604020202020204" pitchFamily="34" charset="0"/>
              </a:rPr>
              <a:t>0): </a:t>
            </a:r>
            <a:r>
              <a:rPr lang="ko-KR" altLang="en-US" sz="1200" dirty="0"/>
              <a:t>변동성 </a:t>
            </a:r>
            <a:r>
              <a:rPr lang="ko-KR" altLang="en-US" sz="1200" dirty="0" err="1"/>
              <a:t>재상승</a:t>
            </a:r>
            <a:r>
              <a:rPr lang="ko-KR" altLang="en-US" sz="1200" dirty="0"/>
              <a:t> 흐름은 잘 맞추지만</a:t>
            </a:r>
            <a:r>
              <a:rPr lang="en-US" altLang="ko-KR" sz="1200" dirty="0"/>
              <a:t>, </a:t>
            </a:r>
            <a:r>
              <a:rPr lang="ko-KR" altLang="en-US" sz="1200" dirty="0"/>
              <a:t>피크의 높낮이나 작은 파형에서 차이가 비교적 자주 나타남</a:t>
            </a:r>
            <a:endParaRPr lang="en-US" altLang="ko-KR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실제 변동성과 큰 흐름은 비슷하지만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세부 파형에서 과대</a:t>
            </a:r>
            <a:r>
              <a:rPr lang="en-US" altLang="ko-KR" sz="1200" dirty="0"/>
              <a:t>·</a:t>
            </a:r>
            <a:r>
              <a:rPr lang="ko-KR" altLang="en-US" sz="1200" dirty="0"/>
              <a:t>과소 반응이 자주 나타나며 전체적인 </a:t>
            </a:r>
            <a:r>
              <a:rPr lang="ko-KR" altLang="en-US" sz="1200" dirty="0" err="1"/>
              <a:t>추적력이</a:t>
            </a:r>
            <a:r>
              <a:rPr lang="ko-KR" altLang="en-US" sz="1200" dirty="0"/>
              <a:t> 두 다른 모델보다 떨어짐</a:t>
            </a:r>
            <a:endParaRPr lang="ko-KR" altLang="ko-KR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625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21B6285D-5964-863E-FAFA-230E7A7CA633}"/>
              </a:ext>
            </a:extLst>
          </p:cNvPr>
          <p:cNvSpPr txBox="1">
            <a:spLocks/>
          </p:cNvSpPr>
          <p:nvPr/>
        </p:nvSpPr>
        <p:spPr>
          <a:xfrm>
            <a:off x="474922" y="290998"/>
            <a:ext cx="9836520" cy="88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Conclusion &amp; Implications</a:t>
            </a:r>
            <a:endParaRPr lang="ko-KR" altLang="en-US" sz="28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D9ECA4-77E6-E807-ABA0-C6A2929AFBF3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BF61765A-E549-A56E-FDF1-56771E099268}"/>
                  </a:ext>
                </a:extLst>
              </p14:cNvPr>
              <p14:cNvContentPartPr/>
              <p14:nvPr/>
            </p14:nvContentPartPr>
            <p14:xfrm>
              <a:off x="10607912" y="5654251"/>
              <a:ext cx="48960" cy="56844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BF61765A-E549-A56E-FDF1-56771E0992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99272" y="5645611"/>
                <a:ext cx="66600" cy="58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5E3B9F8E-6538-9824-2B21-01C889138ED7}"/>
              </a:ext>
            </a:extLst>
          </p:cNvPr>
          <p:cNvGrpSpPr/>
          <p:nvPr/>
        </p:nvGrpSpPr>
        <p:grpSpPr>
          <a:xfrm>
            <a:off x="10466792" y="5882851"/>
            <a:ext cx="120600" cy="360"/>
            <a:chOff x="10466792" y="5882851"/>
            <a:chExt cx="12060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F940011-6564-4A09-EFB4-1A8F8520A29E}"/>
                    </a:ext>
                  </a:extLst>
                </p14:cNvPr>
                <p14:cNvContentPartPr/>
                <p14:nvPr/>
              </p14:nvContentPartPr>
              <p14:xfrm>
                <a:off x="10466792" y="5882851"/>
                <a:ext cx="360" cy="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F940011-6564-4A09-EFB4-1A8F8520A2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03792" y="582021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EBB19341-7D72-9795-D44C-7117B9ADB063}"/>
                    </a:ext>
                  </a:extLst>
                </p14:cNvPr>
                <p14:cNvContentPartPr/>
                <p14:nvPr/>
              </p14:nvContentPartPr>
              <p14:xfrm>
                <a:off x="10587032" y="5882851"/>
                <a:ext cx="360" cy="3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EBB19341-7D72-9795-D44C-7117B9ADB0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24392" y="582021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AD0EC3F-89D4-B3E1-F70A-0D509AC67C94}"/>
              </a:ext>
            </a:extLst>
          </p:cNvPr>
          <p:cNvGrpSpPr/>
          <p:nvPr/>
        </p:nvGrpSpPr>
        <p:grpSpPr>
          <a:xfrm>
            <a:off x="7510832" y="5555251"/>
            <a:ext cx="86400" cy="17640"/>
            <a:chOff x="7510832" y="5555251"/>
            <a:chExt cx="86400" cy="1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B533F82-5607-DC9A-27E4-A9761E9499FE}"/>
                    </a:ext>
                  </a:extLst>
                </p14:cNvPr>
                <p14:cNvContentPartPr/>
                <p14:nvPr/>
              </p14:nvContentPartPr>
              <p14:xfrm>
                <a:off x="7510832" y="5555251"/>
                <a:ext cx="360" cy="3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B533F82-5607-DC9A-27E4-A9761E9499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47832" y="549225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43FB833-B9D3-75BB-DCB3-0C98FE686D6E}"/>
                    </a:ext>
                  </a:extLst>
                </p14:cNvPr>
                <p14:cNvContentPartPr/>
                <p14:nvPr/>
              </p14:nvContentPartPr>
              <p14:xfrm>
                <a:off x="7596872" y="5572531"/>
                <a:ext cx="360" cy="3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43FB833-B9D3-75BB-DCB3-0C98FE686D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33872" y="55095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06A27271-0CCD-5330-8243-71FB86ED925F}"/>
                    </a:ext>
                  </a:extLst>
                </p14:cNvPr>
                <p14:cNvContentPartPr/>
                <p14:nvPr/>
              </p14:nvContentPartPr>
              <p14:xfrm>
                <a:off x="7596872" y="5572531"/>
                <a:ext cx="360" cy="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06A27271-0CCD-5330-8243-71FB86ED92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33872" y="55095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F4435-EC5A-B769-3132-CFE54A87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p10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43E4E5-5367-BF88-2248-87BB294B53FD}"/>
              </a:ext>
            </a:extLst>
          </p:cNvPr>
          <p:cNvSpPr txBox="1"/>
          <p:nvPr/>
        </p:nvSpPr>
        <p:spPr>
          <a:xfrm>
            <a:off x="775916" y="1138761"/>
            <a:ext cx="10088881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단순 </a:t>
            </a:r>
            <a:r>
              <a:rPr lang="en-US" altLang="ko-KR" sz="1500" b="1" dirty="0"/>
              <a:t>LSTM </a:t>
            </a:r>
            <a:r>
              <a:rPr lang="ko-KR" altLang="en-US" sz="1500" b="1" dirty="0"/>
              <a:t>모델의 우수한 예측력 확인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가격 정보</a:t>
            </a:r>
            <a:r>
              <a:rPr lang="en-US" altLang="ko-KR" sz="1200" dirty="0"/>
              <a:t>(ret)</a:t>
            </a:r>
            <a:r>
              <a:rPr lang="ko-KR" altLang="en-US" sz="1200" dirty="0"/>
              <a:t>와 전일 실현 변동성</a:t>
            </a:r>
            <a:r>
              <a:rPr lang="en-US" altLang="ko-KR" sz="1200" dirty="0"/>
              <a:t>(lag RV)</a:t>
            </a:r>
            <a:r>
              <a:rPr lang="ko-KR" altLang="en-US" sz="1200" dirty="0"/>
              <a:t>만을 사용한 </a:t>
            </a:r>
            <a:r>
              <a:rPr lang="en-US" altLang="ko-KR" sz="1200" dirty="0"/>
              <a:t>LSTM</a:t>
            </a:r>
            <a:r>
              <a:rPr lang="ko-KR" altLang="en-US" sz="1200" dirty="0"/>
              <a:t>이 </a:t>
            </a:r>
            <a:r>
              <a:rPr lang="en-US" altLang="ko-KR" sz="1200" dirty="0"/>
              <a:t>MAE, RMSE </a:t>
            </a:r>
            <a:r>
              <a:rPr lang="ko-KR" altLang="en-US" sz="1200" dirty="0"/>
              <a:t>모두에서 가장 낮은 오차를 기록하며 최고 성능을 보임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예측 그래프에서도 전체 구간에 걸쳐 실제 변동성과 가장 유사한 흐름을 나타냄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복잡한 </a:t>
            </a:r>
            <a:r>
              <a:rPr lang="en-US" altLang="ko-KR" sz="1200" dirty="0"/>
              <a:t>Feature </a:t>
            </a:r>
            <a:r>
              <a:rPr lang="ko-KR" altLang="en-US" sz="1200" dirty="0"/>
              <a:t>없이도 변동성의 자기상관 구조와 시계열 패턴을 충분히 학습한 것으로 판단됨</a:t>
            </a:r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24D90-5239-E66B-10DA-36914EC5BB80}"/>
              </a:ext>
            </a:extLst>
          </p:cNvPr>
          <p:cNvSpPr txBox="1"/>
          <p:nvPr/>
        </p:nvSpPr>
        <p:spPr>
          <a:xfrm>
            <a:off x="775916" y="2287173"/>
            <a:ext cx="9467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500" b="1" dirty="0"/>
              <a:t>GARCH Feature </a:t>
            </a:r>
            <a:r>
              <a:rPr lang="ko-KR" altLang="en-US" sz="1500" b="1" dirty="0"/>
              <a:t>추가 효과의 한계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LSTM-GARCH </a:t>
            </a:r>
            <a:r>
              <a:rPr lang="ko-KR" altLang="en-US" sz="1200" dirty="0"/>
              <a:t>모델은 전반적 흐름은 잘 재현하나 오차가 </a:t>
            </a:r>
            <a:r>
              <a:rPr lang="en-US" altLang="ko-KR" sz="1200" dirty="0"/>
              <a:t>LSTM </a:t>
            </a:r>
            <a:r>
              <a:rPr lang="ko-KR" altLang="en-US" sz="1200" dirty="0"/>
              <a:t>단독 대비 소폭 증가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GARCH(2,2) </a:t>
            </a:r>
            <a:r>
              <a:rPr lang="ko-KR" altLang="en-US" sz="1200" dirty="0"/>
              <a:t>예측 변동성이 기존 입력과 높은 중복성을 가지며 모델 복잡성만 증가시키고 실질적인 예측력 개선은 제한적임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868F5-EE25-1A00-87D4-2BB5E495E8F8}"/>
              </a:ext>
            </a:extLst>
          </p:cNvPr>
          <p:cNvSpPr txBox="1"/>
          <p:nvPr/>
        </p:nvSpPr>
        <p:spPr>
          <a:xfrm>
            <a:off x="775916" y="3218227"/>
            <a:ext cx="925390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500" b="1" dirty="0"/>
              <a:t>Hybrid(VIX </a:t>
            </a:r>
            <a:r>
              <a:rPr lang="ko-KR" altLang="en-US" sz="1500" b="1" dirty="0"/>
              <a:t>포함</a:t>
            </a:r>
            <a:r>
              <a:rPr lang="en-US" altLang="ko-KR" sz="1500" b="1" dirty="0"/>
              <a:t>) </a:t>
            </a:r>
            <a:r>
              <a:rPr lang="ko-KR" altLang="en-US" sz="1500" b="1" dirty="0"/>
              <a:t>모델의 성능 저하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VIX </a:t>
            </a:r>
            <a:r>
              <a:rPr lang="ko-KR" altLang="en-US" sz="1200" dirty="0"/>
              <a:t>추가 시 예측선이 매끄럽지만 세부 구간에서 실제 변동성과의 차이가 더 자주 발생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옵션 프리미엄</a:t>
            </a:r>
            <a:r>
              <a:rPr lang="en-US" altLang="ko-KR" sz="1200" dirty="0"/>
              <a:t>·</a:t>
            </a:r>
            <a:r>
              <a:rPr lang="ko-KR" altLang="en-US" sz="1200" dirty="0"/>
              <a:t>수급 요인이 섞여 있는 </a:t>
            </a:r>
            <a:r>
              <a:rPr lang="en-US" altLang="ko-KR" sz="1200" dirty="0"/>
              <a:t>VIX</a:t>
            </a:r>
            <a:r>
              <a:rPr lang="ko-KR" altLang="en-US" sz="1200" dirty="0"/>
              <a:t>가 실현 변동성 예측에는 오히려 노이즈로 작용하는 경향 확인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결과적으로 세 모델 중 </a:t>
            </a:r>
            <a:r>
              <a:rPr lang="en-US" altLang="ko-KR" sz="1200" dirty="0"/>
              <a:t>MAE,RMSE</a:t>
            </a:r>
            <a:r>
              <a:rPr lang="ko-KR" altLang="en-US" sz="1200" dirty="0"/>
              <a:t>가 가장 높음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B0485-35C0-311C-9725-0DFB6B7E3A76}"/>
              </a:ext>
            </a:extLst>
          </p:cNvPr>
          <p:cNvSpPr txBox="1"/>
          <p:nvPr/>
        </p:nvSpPr>
        <p:spPr>
          <a:xfrm>
            <a:off x="775916" y="4335866"/>
            <a:ext cx="11225584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결론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가장 단순한 </a:t>
            </a:r>
            <a:r>
              <a:rPr lang="en-US" altLang="ko-KR" sz="1200" dirty="0"/>
              <a:t>LSTM</a:t>
            </a:r>
            <a:r>
              <a:rPr lang="ko-KR" altLang="en-US" sz="1200" dirty="0"/>
              <a:t>이 가장 뛰어난 예측성능을 보임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200" dirty="0"/>
              <a:t>GARCH</a:t>
            </a:r>
            <a:r>
              <a:rPr lang="ko-KR" altLang="en-US" sz="1200" dirty="0"/>
              <a:t>와 </a:t>
            </a:r>
            <a:r>
              <a:rPr lang="en-US" altLang="ko-KR" sz="1200" dirty="0"/>
              <a:t>VIX</a:t>
            </a:r>
            <a:r>
              <a:rPr lang="ko-KR" altLang="en-US" sz="1200" dirty="0"/>
              <a:t>의 정보는 단독 </a:t>
            </a:r>
            <a:r>
              <a:rPr lang="en-US" altLang="ko-KR" sz="1200" dirty="0"/>
              <a:t>LSTM </a:t>
            </a:r>
            <a:r>
              <a:rPr lang="ko-KR" altLang="en-US" sz="1200" dirty="0"/>
              <a:t>기반 예측력을 실질적으로 향상시키지 못함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변동성 예측에서는 핵심 </a:t>
            </a:r>
            <a:r>
              <a:rPr lang="en-US" altLang="ko-KR" sz="1200" dirty="0"/>
              <a:t>Feature(</a:t>
            </a:r>
            <a:r>
              <a:rPr lang="ko-KR" altLang="en-US" sz="1200" dirty="0"/>
              <a:t>가격 수익률 </a:t>
            </a:r>
            <a:r>
              <a:rPr lang="en-US" altLang="ko-KR" sz="1200" dirty="0"/>
              <a:t>+ </a:t>
            </a:r>
            <a:r>
              <a:rPr lang="ko-KR" altLang="en-US" sz="1200" dirty="0"/>
              <a:t>최근 </a:t>
            </a:r>
            <a:r>
              <a:rPr lang="en-US" altLang="ko-KR" sz="1200" dirty="0"/>
              <a:t>RV)</a:t>
            </a:r>
            <a:r>
              <a:rPr lang="ko-KR" altLang="en-US" sz="1200" dirty="0"/>
              <a:t>가 이미 충분한 정보량을 제공하며 모델 단순성이 오히려 일반화 성능을 강화하는 결과로 이어짐</a:t>
            </a:r>
          </a:p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8BB53F-10A4-C4BB-85C6-95B696E1F757}"/>
              </a:ext>
            </a:extLst>
          </p:cNvPr>
          <p:cNvSpPr txBox="1"/>
          <p:nvPr/>
        </p:nvSpPr>
        <p:spPr>
          <a:xfrm>
            <a:off x="775916" y="5405791"/>
            <a:ext cx="6953250" cy="1518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500" b="1" dirty="0"/>
              <a:t>시사점</a:t>
            </a:r>
            <a:endParaRPr lang="en-US" altLang="ko-KR" sz="1500" b="1" dirty="0"/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핵심 </a:t>
            </a:r>
            <a:r>
              <a:rPr lang="en-US" altLang="ko-KR" sz="1200" dirty="0"/>
              <a:t>Feature(</a:t>
            </a:r>
            <a:r>
              <a:rPr lang="ko-KR" altLang="en-US" sz="1200" dirty="0"/>
              <a:t>가격</a:t>
            </a:r>
            <a:r>
              <a:rPr lang="en-US" altLang="ko-KR" sz="1200" dirty="0"/>
              <a:t>, </a:t>
            </a:r>
            <a:r>
              <a:rPr lang="ko-KR" altLang="en-US" sz="1200" dirty="0"/>
              <a:t>실현 변동성</a:t>
            </a:r>
            <a:r>
              <a:rPr lang="en-US" altLang="ko-KR" sz="1200" dirty="0"/>
              <a:t>)</a:t>
            </a:r>
            <a:r>
              <a:rPr lang="ko-KR" altLang="en-US" sz="1200" dirty="0"/>
              <a:t>만으로도 충분한 예측력 확보 가능함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불필요한 </a:t>
            </a:r>
            <a:r>
              <a:rPr lang="en-US" altLang="ko-KR" sz="1200" dirty="0"/>
              <a:t>Feature(GARCH, VIX) </a:t>
            </a:r>
            <a:r>
              <a:rPr lang="ko-KR" altLang="en-US" sz="1200" dirty="0"/>
              <a:t>추가는 모델 복잡성만 증가시키고 예측력 개선은 제한적임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변동성 예측에서는 </a:t>
            </a:r>
            <a:r>
              <a:rPr lang="en-US" altLang="ko-KR" sz="1200" dirty="0"/>
              <a:t>Feature </a:t>
            </a:r>
            <a:r>
              <a:rPr lang="ko-KR" altLang="en-US" sz="1200" dirty="0"/>
              <a:t>확장보다 모델의 단순성</a:t>
            </a:r>
            <a:r>
              <a:rPr lang="en-US" altLang="ko-KR" sz="1200" dirty="0"/>
              <a:t>·</a:t>
            </a:r>
            <a:r>
              <a:rPr lang="ko-KR" altLang="en-US" sz="1200" dirty="0"/>
              <a:t>안정성이 더 중요한 요소로 확인됨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/>
              <a:t>향후 모델 확장은 모든 정보를 넣기보다는 상황별 선택적 </a:t>
            </a:r>
            <a:r>
              <a:rPr lang="en-US" altLang="ko-KR" sz="1200" dirty="0"/>
              <a:t>Feature </a:t>
            </a:r>
            <a:r>
              <a:rPr lang="ko-KR" altLang="en-US" sz="1200" dirty="0"/>
              <a:t>활용이 효과적일 가능성이 높음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679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6BFD-B892-2035-DF68-C838FFAD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753AF388-4B91-3633-60CB-B1BC9CF1F22B}"/>
              </a:ext>
            </a:extLst>
          </p:cNvPr>
          <p:cNvSpPr txBox="1">
            <a:spLocks/>
          </p:cNvSpPr>
          <p:nvPr/>
        </p:nvSpPr>
        <p:spPr>
          <a:xfrm>
            <a:off x="474922" y="290998"/>
            <a:ext cx="9836520" cy="88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Additional Analysis(Comparison of Scaling/Activation Settings)</a:t>
            </a:r>
            <a:endParaRPr lang="ko-KR" altLang="en-US" sz="28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EB49E7-B1EA-B086-7772-F249EA31ACBA}"/>
              </a:ext>
            </a:extLst>
          </p:cNvPr>
          <p:cNvSpPr/>
          <p:nvPr/>
        </p:nvSpPr>
        <p:spPr>
          <a:xfrm>
            <a:off x="666206" y="986246"/>
            <a:ext cx="1084217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F8416FF4-984A-480A-EA4A-3B55ED7AA024}"/>
                  </a:ext>
                </a:extLst>
              </p14:cNvPr>
              <p14:cNvContentPartPr/>
              <p14:nvPr/>
            </p14:nvContentPartPr>
            <p14:xfrm>
              <a:off x="10607912" y="5654251"/>
              <a:ext cx="48960" cy="56844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BF61765A-E549-A56E-FDF1-56771E0992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99272" y="5645611"/>
                <a:ext cx="66600" cy="58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2A5E16D2-0FAE-35D1-EE62-B9F76AADA006}"/>
              </a:ext>
            </a:extLst>
          </p:cNvPr>
          <p:cNvGrpSpPr/>
          <p:nvPr/>
        </p:nvGrpSpPr>
        <p:grpSpPr>
          <a:xfrm>
            <a:off x="10466792" y="5882851"/>
            <a:ext cx="120600" cy="360"/>
            <a:chOff x="10466792" y="5882851"/>
            <a:chExt cx="12060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DEA8201-3479-87B9-C3DF-09DBF4AD925A}"/>
                    </a:ext>
                  </a:extLst>
                </p14:cNvPr>
                <p14:cNvContentPartPr/>
                <p14:nvPr/>
              </p14:nvContentPartPr>
              <p14:xfrm>
                <a:off x="10466792" y="5882851"/>
                <a:ext cx="360" cy="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F940011-6564-4A09-EFB4-1A8F8520A2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03792" y="582021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9965BF89-F1C9-8E1E-4475-9098511CBA37}"/>
                    </a:ext>
                  </a:extLst>
                </p14:cNvPr>
                <p14:cNvContentPartPr/>
                <p14:nvPr/>
              </p14:nvContentPartPr>
              <p14:xfrm>
                <a:off x="10587032" y="5882851"/>
                <a:ext cx="360" cy="3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EBB19341-7D72-9795-D44C-7117B9ADB0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24392" y="582021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7EF4224-46FE-0FEF-0BF7-CEB93E843E83}"/>
              </a:ext>
            </a:extLst>
          </p:cNvPr>
          <p:cNvGrpSpPr/>
          <p:nvPr/>
        </p:nvGrpSpPr>
        <p:grpSpPr>
          <a:xfrm>
            <a:off x="7510832" y="5555251"/>
            <a:ext cx="86400" cy="17640"/>
            <a:chOff x="7510832" y="5555251"/>
            <a:chExt cx="86400" cy="1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5F46B9B0-278D-22BB-0CBE-BE2ADC15BBAA}"/>
                    </a:ext>
                  </a:extLst>
                </p14:cNvPr>
                <p14:cNvContentPartPr/>
                <p14:nvPr/>
              </p14:nvContentPartPr>
              <p14:xfrm>
                <a:off x="7510832" y="5555251"/>
                <a:ext cx="360" cy="3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B533F82-5607-DC9A-27E4-A9761E9499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47832" y="549225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7FF9B2F5-4B1A-7CD2-57A1-5F5D9B49EBD8}"/>
                    </a:ext>
                  </a:extLst>
                </p14:cNvPr>
                <p14:cNvContentPartPr/>
                <p14:nvPr/>
              </p14:nvContentPartPr>
              <p14:xfrm>
                <a:off x="7596872" y="5572531"/>
                <a:ext cx="360" cy="3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43FB833-B9D3-75BB-DCB3-0C98FE686D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33872" y="55095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73075494-0BAA-1752-6D72-88E7ED3423AD}"/>
                    </a:ext>
                  </a:extLst>
                </p14:cNvPr>
                <p14:cNvContentPartPr/>
                <p14:nvPr/>
              </p14:nvContentPartPr>
              <p14:xfrm>
                <a:off x="7596872" y="5572531"/>
                <a:ext cx="360" cy="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06A27271-0CCD-5330-8243-71FB86ED92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33872" y="55095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D90E56-D26C-A3A4-4F52-98D47BA0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P11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B40AB59-780A-B82D-16E9-BA6D12A14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310132"/>
              </p:ext>
            </p:extLst>
          </p:nvPr>
        </p:nvGraphicFramePr>
        <p:xfrm>
          <a:off x="1040190" y="1798719"/>
          <a:ext cx="2692612" cy="1097280"/>
        </p:xfrm>
        <a:graphic>
          <a:graphicData uri="http://schemas.openxmlformats.org/drawingml/2006/table">
            <a:tbl>
              <a:tblPr/>
              <a:tblGrid>
                <a:gridCol w="1074293">
                  <a:extLst>
                    <a:ext uri="{9D8B030D-6E8A-4147-A177-3AD203B41FA5}">
                      <a16:colId xmlns:a16="http://schemas.microsoft.com/office/drawing/2014/main" val="4114636524"/>
                    </a:ext>
                  </a:extLst>
                </a:gridCol>
                <a:gridCol w="800418">
                  <a:extLst>
                    <a:ext uri="{9D8B030D-6E8A-4147-A177-3AD203B41FA5}">
                      <a16:colId xmlns:a16="http://schemas.microsoft.com/office/drawing/2014/main" val="3055017869"/>
                    </a:ext>
                  </a:extLst>
                </a:gridCol>
                <a:gridCol w="817901">
                  <a:extLst>
                    <a:ext uri="{9D8B030D-6E8A-4147-A177-3AD203B41FA5}">
                      <a16:colId xmlns:a16="http://schemas.microsoft.com/office/drawing/2014/main" val="220328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모델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6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0.000508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0.000764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67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LSTM_GARCH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0.000575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0.000798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22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Hybrid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0.000640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0.000883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53681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C85C02D-2462-72B4-DACC-F4DCD3749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642311"/>
              </p:ext>
            </p:extLst>
          </p:nvPr>
        </p:nvGraphicFramePr>
        <p:xfrm>
          <a:off x="1089640" y="4717532"/>
          <a:ext cx="2684110" cy="1097280"/>
        </p:xfrm>
        <a:graphic>
          <a:graphicData uri="http://schemas.openxmlformats.org/drawingml/2006/table">
            <a:tbl>
              <a:tblPr/>
              <a:tblGrid>
                <a:gridCol w="1074293">
                  <a:extLst>
                    <a:ext uri="{9D8B030D-6E8A-4147-A177-3AD203B41FA5}">
                      <a16:colId xmlns:a16="http://schemas.microsoft.com/office/drawing/2014/main" val="4114636524"/>
                    </a:ext>
                  </a:extLst>
                </a:gridCol>
                <a:gridCol w="800418">
                  <a:extLst>
                    <a:ext uri="{9D8B030D-6E8A-4147-A177-3AD203B41FA5}">
                      <a16:colId xmlns:a16="http://schemas.microsoft.com/office/drawing/2014/main" val="3055017869"/>
                    </a:ext>
                  </a:extLst>
                </a:gridCol>
                <a:gridCol w="809399">
                  <a:extLst>
                    <a:ext uri="{9D8B030D-6E8A-4147-A177-3AD203B41FA5}">
                      <a16:colId xmlns:a16="http://schemas.microsoft.com/office/drawing/2014/main" val="220328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모델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6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0.000871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0.001165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67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LSTM_GARCH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0.000815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0.001091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22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/>
                        <a:t>Hybrid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0.000797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/>
                        <a:t>0.001065</a:t>
                      </a:r>
                      <a:endParaRPr lang="ko-KR" altLang="en-US" sz="12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53681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1EE3411-68D4-81D4-6A83-7F48D8C5A2E3}"/>
              </a:ext>
            </a:extLst>
          </p:cNvPr>
          <p:cNvSpPr txBox="1"/>
          <p:nvPr/>
        </p:nvSpPr>
        <p:spPr>
          <a:xfrm>
            <a:off x="1040190" y="1317958"/>
            <a:ext cx="327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MinMax</a:t>
            </a:r>
            <a:r>
              <a:rPr lang="en-US" altLang="ko-KR" b="1" dirty="0"/>
              <a:t> Scaling + </a:t>
            </a:r>
            <a:r>
              <a:rPr lang="en-US" altLang="ko-KR" b="1" dirty="0" err="1"/>
              <a:t>ReLU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FE8F7-D1EC-06A4-4C6B-729CC89C5D60}"/>
              </a:ext>
            </a:extLst>
          </p:cNvPr>
          <p:cNvSpPr txBox="1"/>
          <p:nvPr/>
        </p:nvSpPr>
        <p:spPr>
          <a:xfrm>
            <a:off x="1040190" y="4229548"/>
            <a:ext cx="3607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No Scaling + </a:t>
            </a:r>
            <a:r>
              <a:rPr lang="en-US" altLang="ko-KR" b="1" dirty="0" err="1"/>
              <a:t>Softplus</a:t>
            </a:r>
            <a:endParaRPr lang="ko-KR" alt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BEB3F1-D65F-5FE0-90D4-CE73DF35928E}"/>
              </a:ext>
            </a:extLst>
          </p:cNvPr>
          <p:cNvSpPr txBox="1"/>
          <p:nvPr/>
        </p:nvSpPr>
        <p:spPr>
          <a:xfrm>
            <a:off x="4762763" y="1317958"/>
            <a:ext cx="7227455" cy="190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ko-KR" sz="1500" b="1" dirty="0" err="1">
                <a:latin typeface="Arial" panose="020B0604020202020204" pitchFamily="34" charset="0"/>
              </a:rPr>
              <a:t>MinMax</a:t>
            </a:r>
            <a:r>
              <a:rPr lang="en-US" altLang="ko-KR" sz="1500" b="1" dirty="0">
                <a:latin typeface="Arial" panose="020B0604020202020204" pitchFamily="34" charset="0"/>
              </a:rPr>
              <a:t> Scaling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ko-KR" sz="1200" dirty="0" err="1">
                <a:latin typeface="Arial" panose="020B0604020202020204" pitchFamily="34" charset="0"/>
              </a:rPr>
              <a:t>y를</a:t>
            </a:r>
            <a:r>
              <a:rPr lang="ko-KR" altLang="ko-KR" sz="1200" dirty="0">
                <a:latin typeface="Arial" panose="020B0604020202020204" pitchFamily="34" charset="0"/>
              </a:rPr>
              <a:t> 0~1 범위로 확장해 </a:t>
            </a:r>
            <a:r>
              <a:rPr lang="ko-KR" altLang="ko-KR" sz="1200" dirty="0" err="1">
                <a:latin typeface="Arial" panose="020B0604020202020204" pitchFamily="34" charset="0"/>
              </a:rPr>
              <a:t>gradient가</a:t>
            </a:r>
            <a:r>
              <a:rPr lang="ko-KR" altLang="ko-KR" sz="1200" dirty="0">
                <a:latin typeface="Arial" panose="020B0604020202020204" pitchFamily="34" charset="0"/>
              </a:rPr>
              <a:t> 커지고 학습이 </a:t>
            </a:r>
            <a:r>
              <a:rPr lang="ko-KR" altLang="ko-KR" sz="1200" dirty="0" err="1">
                <a:latin typeface="Arial" panose="020B0604020202020204" pitchFamily="34" charset="0"/>
              </a:rPr>
              <a:t>쉬워짐</a:t>
            </a:r>
            <a:endParaRPr lang="ko-KR" altLang="ko-KR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빠른 수렴과 안정적 패턴 학습으로 MAE</a:t>
            </a:r>
            <a:r>
              <a:rPr lang="en-US" altLang="ko-KR" sz="1200" dirty="0">
                <a:latin typeface="Arial" panose="020B0604020202020204" pitchFamily="34" charset="0"/>
              </a:rPr>
              <a:t>, </a:t>
            </a:r>
            <a:r>
              <a:rPr lang="ko-KR" altLang="ko-KR" sz="1200" dirty="0" err="1">
                <a:latin typeface="Arial" panose="020B0604020202020204" pitchFamily="34" charset="0"/>
              </a:rPr>
              <a:t>RMSE가</a:t>
            </a:r>
            <a:r>
              <a:rPr lang="ko-KR" altLang="ko-KR" sz="1200" dirty="0">
                <a:latin typeface="Arial" panose="020B0604020202020204" pitchFamily="34" charset="0"/>
              </a:rPr>
              <a:t> 더 낮음</a:t>
            </a:r>
            <a:endParaRPr lang="en-US" altLang="ko-K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ko-KR" sz="1500" b="1" dirty="0" err="1">
                <a:latin typeface="Arial" panose="020B0604020202020204" pitchFamily="34" charset="0"/>
              </a:rPr>
              <a:t>ReLU</a:t>
            </a:r>
            <a:endParaRPr lang="en-US" altLang="ko-KR" sz="1500" b="1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양수 영역에서 </a:t>
            </a:r>
            <a:r>
              <a:rPr lang="ko-KR" altLang="ko-KR" sz="1200" dirty="0" err="1">
                <a:latin typeface="Arial" panose="020B0604020202020204" pitchFamily="34" charset="0"/>
              </a:rPr>
              <a:t>gradient가</a:t>
            </a:r>
            <a:r>
              <a:rPr lang="ko-KR" altLang="ko-KR" sz="1200" dirty="0">
                <a:latin typeface="Arial" panose="020B0604020202020204" pitchFamily="34" charset="0"/>
              </a:rPr>
              <a:t> 크게 작용하여 빠른 학습 가능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변동성</a:t>
            </a:r>
            <a:r>
              <a:rPr lang="ko-KR" altLang="en-US" sz="1200" dirty="0">
                <a:latin typeface="Arial" panose="020B0604020202020204" pitchFamily="34" charset="0"/>
              </a:rPr>
              <a:t>이 항상 양수라는 특성에 잘 맞아 예측 곡선이 더 뚜렷하게 나타나는 경향이 있음</a:t>
            </a:r>
            <a:endParaRPr lang="ko-KR" altLang="ko-K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dirty="0"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F4D89-EC93-34B9-A38C-24B62868188E}"/>
              </a:ext>
            </a:extLst>
          </p:cNvPr>
          <p:cNvSpPr txBox="1"/>
          <p:nvPr/>
        </p:nvSpPr>
        <p:spPr>
          <a:xfrm>
            <a:off x="4762764" y="4229548"/>
            <a:ext cx="7227455" cy="162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ko-KR" sz="1500" b="1" dirty="0">
                <a:latin typeface="Arial" panose="020B0604020202020204" pitchFamily="34" charset="0"/>
              </a:rPr>
              <a:t>No Scaling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ko-KR" sz="1200" dirty="0" err="1">
                <a:latin typeface="Arial" panose="020B0604020202020204" pitchFamily="34" charset="0"/>
              </a:rPr>
              <a:t>y가</a:t>
            </a:r>
            <a:r>
              <a:rPr lang="ko-KR" altLang="ko-KR" sz="1200" dirty="0">
                <a:latin typeface="Arial" panose="020B0604020202020204" pitchFamily="34" charset="0"/>
              </a:rPr>
              <a:t> 0.002~0.03처럼 매우 작아 </a:t>
            </a:r>
            <a:r>
              <a:rPr lang="ko-KR" altLang="ko-KR" sz="1200" dirty="0" err="1">
                <a:latin typeface="Arial" panose="020B0604020202020204" pitchFamily="34" charset="0"/>
              </a:rPr>
              <a:t>gradient가</a:t>
            </a:r>
            <a:r>
              <a:rPr lang="ko-KR" altLang="ko-KR" sz="1200" dirty="0">
                <a:latin typeface="Arial" panose="020B0604020202020204" pitchFamily="34" charset="0"/>
              </a:rPr>
              <a:t> 약해지고 학습이 느려짐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동일한 오차도 크게 보이며 예측 성능이 떨어지는 경향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ko-KR" sz="1500" b="1" dirty="0" err="1">
                <a:latin typeface="Arial" panose="020B0604020202020204" pitchFamily="34" charset="0"/>
              </a:rPr>
              <a:t>Softplus</a:t>
            </a:r>
            <a:endParaRPr lang="en-US" altLang="ko-KR" sz="1500" b="1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Arial" panose="020B0604020202020204" pitchFamily="34" charset="0"/>
              </a:rPr>
              <a:t>작은 입력에서 </a:t>
            </a:r>
            <a:r>
              <a:rPr lang="en-US" altLang="ko-KR" sz="1200" dirty="0">
                <a:latin typeface="Arial" panose="020B0604020202020204" pitchFamily="34" charset="0"/>
              </a:rPr>
              <a:t>gradient</a:t>
            </a:r>
            <a:r>
              <a:rPr lang="ko-KR" altLang="en-US" sz="1200" dirty="0">
                <a:latin typeface="Arial" panose="020B0604020202020204" pitchFamily="34" charset="0"/>
              </a:rPr>
              <a:t>가 매우 약해 촉 학습이 둔화</a:t>
            </a:r>
            <a:endParaRPr lang="ko-KR" altLang="ko-KR" sz="12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Arial" panose="020B0604020202020204" pitchFamily="34" charset="0"/>
              </a:rPr>
              <a:t>급등</a:t>
            </a:r>
            <a:r>
              <a:rPr lang="en-US" altLang="ko-KR" sz="1200" dirty="0">
                <a:latin typeface="Arial" panose="020B0604020202020204" pitchFamily="34" charset="0"/>
              </a:rPr>
              <a:t>, </a:t>
            </a:r>
            <a:r>
              <a:rPr lang="ko-KR" altLang="en-US" sz="1200" dirty="0">
                <a:latin typeface="Arial" panose="020B0604020202020204" pitchFamily="34" charset="0"/>
              </a:rPr>
              <a:t>급락 구간 반응이 느려져 오차가 더 커짐</a:t>
            </a:r>
            <a:endParaRPr lang="ko-KR" altLang="ko-K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02779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 cap="flat" cmpd="sng" algn="ctr">
          <a:solidFill>
            <a:schemeClr val="dk1"/>
          </a:solidFill>
          <a:prstDash val="dash"/>
          <a:round/>
          <a:headEnd type="none" w="med" len="med"/>
          <a:tailEnd type="non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2136</TotalTime>
  <Words>1841</Words>
  <Application>Microsoft Office PowerPoint</Application>
  <PresentationFormat>와이드스크린</PresentationFormat>
  <Paragraphs>277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Arial</vt:lpstr>
      <vt:lpstr>Calibri</vt:lpstr>
      <vt:lpstr>Calibri Light</vt:lpstr>
      <vt:lpstr>Wingdings 2</vt:lpstr>
      <vt:lpstr>HDOfficeLightV0</vt:lpstr>
      <vt:lpstr>LSTM-Based Volatility Forecasting:  Effects and Limitations of Feature Expansion</vt:lpstr>
      <vt:lpstr>Introduction</vt:lpstr>
      <vt:lpstr>Motivation</vt:lpstr>
      <vt:lpstr>PowerPoint 프레젠테이션</vt:lpstr>
      <vt:lpstr>Feature Construction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윤승 지</dc:creator>
  <cp:lastModifiedBy>수경 남</cp:lastModifiedBy>
  <cp:revision>9</cp:revision>
  <dcterms:created xsi:type="dcterms:W3CDTF">2025-10-04T10:14:38Z</dcterms:created>
  <dcterms:modified xsi:type="dcterms:W3CDTF">2025-11-25T10:23:06Z</dcterms:modified>
</cp:coreProperties>
</file>